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7" r:id="rId5"/>
    <p:sldId id="259" r:id="rId6"/>
    <p:sldId id="260" r:id="rId7"/>
    <p:sldId id="268" r:id="rId8"/>
    <p:sldId id="261" r:id="rId9"/>
    <p:sldId id="262" r:id="rId10"/>
    <p:sldId id="263" r:id="rId11"/>
    <p:sldId id="264" r:id="rId12"/>
    <p:sldId id="265" r:id="rId13"/>
    <p:sldId id="269" r:id="rId14"/>
    <p:sldId id="270" r:id="rId15"/>
    <p:sldId id="276" r:id="rId16"/>
    <p:sldId id="277" r:id="rId17"/>
    <p:sldId id="272" r:id="rId18"/>
    <p:sldId id="273" r:id="rId19"/>
    <p:sldId id="274" r:id="rId20"/>
    <p:sldId id="275" r:id="rId21"/>
    <p:sldId id="266" r:id="rId22"/>
  </p:sldIdLst>
  <p:sldSz cx="18288000" cy="10287000"/>
  <p:notesSz cx="6858000" cy="9144000"/>
  <p:embeddedFontLst>
    <p:embeddedFont>
      <p:font typeface="Archivo Black" panose="020B0604020202020204" charset="0"/>
      <p:regular r:id="rId23"/>
    </p:embeddedFont>
    <p:embeddedFont>
      <p:font typeface="Canva Sans" panose="020B0604020202020204" charset="0"/>
      <p:regular r:id="rId24"/>
    </p:embeddedFont>
    <p:embeddedFont>
      <p:font typeface="Canva Sans Bold" panose="020B0604020202020204" charset="0"/>
      <p:regular r:id="rId25"/>
    </p:embeddedFont>
    <p:embeddedFont>
      <p:font typeface="Gill Sans Display Ultra-Bold" panose="020B0604020202020204" charset="0"/>
      <p:regular r:id="rId26"/>
    </p:embeddedFont>
    <p:embeddedFont>
      <p:font typeface="Lato" panose="020F0502020204030203" pitchFamily="3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12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8783204-B487-4DE0-9120-3FB0A2C26DF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8C5757E0-767F-4465-B002-F263220005AB}">
      <dgm:prSet phldrT="[Text]"/>
      <dgm:spPr/>
      <dgm:t>
        <a:bodyPr/>
        <a:lstStyle/>
        <a:p>
          <a:r>
            <a:rPr lang="en-IN" dirty="0"/>
            <a:t>Global Water Footprint Collection</a:t>
          </a:r>
        </a:p>
      </dgm:t>
    </dgm:pt>
    <dgm:pt modelId="{9EC9F9D8-A271-4259-A29A-8A4D7518B5BE}" type="parTrans" cxnId="{00154902-773F-463F-B1B2-E8CC2F21F1F9}">
      <dgm:prSet/>
      <dgm:spPr/>
      <dgm:t>
        <a:bodyPr/>
        <a:lstStyle/>
        <a:p>
          <a:endParaRPr lang="en-IN"/>
        </a:p>
      </dgm:t>
    </dgm:pt>
    <dgm:pt modelId="{E2D49B4E-A0F4-419E-A4BE-01655D0B9C41}" type="sibTrans" cxnId="{00154902-773F-463F-B1B2-E8CC2F21F1F9}">
      <dgm:prSet/>
      <dgm:spPr/>
      <dgm:t>
        <a:bodyPr/>
        <a:lstStyle/>
        <a:p>
          <a:endParaRPr lang="en-IN"/>
        </a:p>
      </dgm:t>
    </dgm:pt>
    <dgm:pt modelId="{47C567A4-19F5-427D-89B0-56A6BE7E228C}">
      <dgm:prSet phldrT="[Text]"/>
      <dgm:spPr/>
      <dgm:t>
        <a:bodyPr/>
        <a:lstStyle/>
        <a:p>
          <a:r>
            <a:rPr lang="en-IN" dirty="0"/>
            <a:t>Preprocessing</a:t>
          </a:r>
        </a:p>
      </dgm:t>
    </dgm:pt>
    <dgm:pt modelId="{E109CFBA-DFF1-4794-B8B7-59C8C94B6915}" type="parTrans" cxnId="{CB3CB9A8-D628-475B-8AAA-2CDA8D414727}">
      <dgm:prSet/>
      <dgm:spPr/>
      <dgm:t>
        <a:bodyPr/>
        <a:lstStyle/>
        <a:p>
          <a:endParaRPr lang="en-IN"/>
        </a:p>
      </dgm:t>
    </dgm:pt>
    <dgm:pt modelId="{4BBDD0F2-6548-4F8D-9EF9-85402A6B3075}" type="sibTrans" cxnId="{CB3CB9A8-D628-475B-8AAA-2CDA8D414727}">
      <dgm:prSet/>
      <dgm:spPr/>
      <dgm:t>
        <a:bodyPr/>
        <a:lstStyle/>
        <a:p>
          <a:endParaRPr lang="en-IN"/>
        </a:p>
      </dgm:t>
    </dgm:pt>
    <dgm:pt modelId="{B8F2F9F0-B325-4F98-9611-1AFC1F512753}">
      <dgm:prSet phldrT="[Text]"/>
      <dgm:spPr/>
      <dgm:t>
        <a:bodyPr/>
        <a:lstStyle/>
        <a:p>
          <a:r>
            <a:rPr lang="en-IN" dirty="0"/>
            <a:t>Company Dataset Collection</a:t>
          </a:r>
        </a:p>
      </dgm:t>
    </dgm:pt>
    <dgm:pt modelId="{9F1A6349-C453-45D6-B5CC-044BA4853220}" type="parTrans" cxnId="{2B22C366-6983-42EC-A962-03482295E955}">
      <dgm:prSet/>
      <dgm:spPr/>
      <dgm:t>
        <a:bodyPr/>
        <a:lstStyle/>
        <a:p>
          <a:endParaRPr lang="en-IN"/>
        </a:p>
      </dgm:t>
    </dgm:pt>
    <dgm:pt modelId="{B3005B1E-69EE-43AB-B2D7-40C38F28D839}" type="sibTrans" cxnId="{2B22C366-6983-42EC-A962-03482295E955}">
      <dgm:prSet/>
      <dgm:spPr/>
      <dgm:t>
        <a:bodyPr/>
        <a:lstStyle/>
        <a:p>
          <a:endParaRPr lang="en-IN"/>
        </a:p>
      </dgm:t>
    </dgm:pt>
    <dgm:pt modelId="{1F02ABB9-8114-4290-B03D-0B9FE3BC3805}">
      <dgm:prSet phldrT="[Text]"/>
      <dgm:spPr/>
      <dgm:t>
        <a:bodyPr/>
        <a:lstStyle/>
        <a:p>
          <a:r>
            <a:rPr lang="en-IN" dirty="0"/>
            <a:t>Impact </a:t>
          </a:r>
          <a:r>
            <a:rPr lang="en-IN" dirty="0" err="1"/>
            <a:t>Modeling</a:t>
          </a:r>
          <a:endParaRPr lang="en-IN" dirty="0"/>
        </a:p>
      </dgm:t>
    </dgm:pt>
    <dgm:pt modelId="{FB32EFDB-C525-4DA4-B5A2-1B2642F47E9F}" type="parTrans" cxnId="{9F6FD665-2AA5-425E-8AD2-2F8246BD87A6}">
      <dgm:prSet/>
      <dgm:spPr/>
      <dgm:t>
        <a:bodyPr/>
        <a:lstStyle/>
        <a:p>
          <a:endParaRPr lang="en-IN"/>
        </a:p>
      </dgm:t>
    </dgm:pt>
    <dgm:pt modelId="{D11FE4BA-0E81-497E-8147-956CF453B3AB}" type="sibTrans" cxnId="{9F6FD665-2AA5-425E-8AD2-2F8246BD87A6}">
      <dgm:prSet/>
      <dgm:spPr/>
      <dgm:t>
        <a:bodyPr/>
        <a:lstStyle/>
        <a:p>
          <a:endParaRPr lang="en-IN"/>
        </a:p>
      </dgm:t>
    </dgm:pt>
    <dgm:pt modelId="{93F308F9-5825-4775-807D-44DE3BB9792F}">
      <dgm:prSet phldrT="[Text]"/>
      <dgm:spPr/>
      <dgm:t>
        <a:bodyPr/>
        <a:lstStyle/>
        <a:p>
          <a:r>
            <a:rPr lang="en-IN" dirty="0"/>
            <a:t>Custom Dataset Creation</a:t>
          </a:r>
        </a:p>
      </dgm:t>
    </dgm:pt>
    <dgm:pt modelId="{56C252DE-BF69-4B4A-9BAB-8906676A315C}" type="parTrans" cxnId="{B83917EB-AD97-4D77-9A38-B0A742EA0AE0}">
      <dgm:prSet/>
      <dgm:spPr/>
      <dgm:t>
        <a:bodyPr/>
        <a:lstStyle/>
        <a:p>
          <a:endParaRPr lang="en-IN"/>
        </a:p>
      </dgm:t>
    </dgm:pt>
    <dgm:pt modelId="{31B7EDAF-DD80-402B-BFFF-548F4C9B039F}" type="sibTrans" cxnId="{B83917EB-AD97-4D77-9A38-B0A742EA0AE0}">
      <dgm:prSet/>
      <dgm:spPr/>
      <dgm:t>
        <a:bodyPr/>
        <a:lstStyle/>
        <a:p>
          <a:endParaRPr lang="en-IN"/>
        </a:p>
      </dgm:t>
    </dgm:pt>
    <dgm:pt modelId="{90417367-518A-459D-9454-9B42F86EC7C6}">
      <dgm:prSet phldrT="[Text]"/>
      <dgm:spPr/>
      <dgm:t>
        <a:bodyPr/>
        <a:lstStyle/>
        <a:p>
          <a:r>
            <a:rPr lang="en-IN" dirty="0"/>
            <a:t>Sales Data Integration</a:t>
          </a:r>
        </a:p>
      </dgm:t>
    </dgm:pt>
    <dgm:pt modelId="{59D6EA02-42B2-4119-8B98-8108C04D0456}" type="parTrans" cxnId="{4A66D861-4842-4F6C-842B-A0A9BBBAD743}">
      <dgm:prSet/>
      <dgm:spPr/>
      <dgm:t>
        <a:bodyPr/>
        <a:lstStyle/>
        <a:p>
          <a:endParaRPr lang="en-IN"/>
        </a:p>
      </dgm:t>
    </dgm:pt>
    <dgm:pt modelId="{E168ED14-0D34-4DF6-BEE9-F0AAB89F2ABF}" type="sibTrans" cxnId="{4A66D861-4842-4F6C-842B-A0A9BBBAD743}">
      <dgm:prSet/>
      <dgm:spPr/>
      <dgm:t>
        <a:bodyPr/>
        <a:lstStyle/>
        <a:p>
          <a:endParaRPr lang="en-IN"/>
        </a:p>
      </dgm:t>
    </dgm:pt>
    <dgm:pt modelId="{C504E5B2-B21B-4580-995C-2BFB3934C78A}">
      <dgm:prSet phldrT="[Text]"/>
      <dgm:spPr/>
      <dgm:t>
        <a:bodyPr/>
        <a:lstStyle/>
        <a:p>
          <a:r>
            <a:rPr lang="en-IN" dirty="0"/>
            <a:t>Monte Carlo Stock Calculator Implementation</a:t>
          </a:r>
        </a:p>
      </dgm:t>
    </dgm:pt>
    <dgm:pt modelId="{B5DA5958-4853-4CCC-BFC5-E20403054F58}" type="parTrans" cxnId="{D331CAFE-CB5D-4938-82B6-49C03FBD7BFE}">
      <dgm:prSet/>
      <dgm:spPr/>
      <dgm:t>
        <a:bodyPr/>
        <a:lstStyle/>
        <a:p>
          <a:endParaRPr lang="en-IN"/>
        </a:p>
      </dgm:t>
    </dgm:pt>
    <dgm:pt modelId="{167A3E51-BE49-4C62-A57B-5D8CFCD49E1C}" type="sibTrans" cxnId="{D331CAFE-CB5D-4938-82B6-49C03FBD7BFE}">
      <dgm:prSet/>
      <dgm:spPr/>
      <dgm:t>
        <a:bodyPr/>
        <a:lstStyle/>
        <a:p>
          <a:endParaRPr lang="en-IN"/>
        </a:p>
      </dgm:t>
    </dgm:pt>
    <dgm:pt modelId="{788C7C93-FFDE-4D9D-BE92-8F6745F7779E}">
      <dgm:prSet phldrT="[Text]"/>
      <dgm:spPr/>
      <dgm:t>
        <a:bodyPr/>
        <a:lstStyle/>
        <a:p>
          <a:r>
            <a:rPr lang="en-IN" dirty="0"/>
            <a:t>Factor Assignment</a:t>
          </a:r>
        </a:p>
      </dgm:t>
    </dgm:pt>
    <dgm:pt modelId="{239C31D1-652A-4FB2-B879-5D6AE064DA66}" type="parTrans" cxnId="{FFFF6ABB-0FEA-4642-9A61-1D2842DD9333}">
      <dgm:prSet/>
      <dgm:spPr/>
      <dgm:t>
        <a:bodyPr/>
        <a:lstStyle/>
        <a:p>
          <a:endParaRPr lang="en-IN"/>
        </a:p>
      </dgm:t>
    </dgm:pt>
    <dgm:pt modelId="{465110E9-AF07-47C9-9F8C-44A458A13103}" type="sibTrans" cxnId="{FFFF6ABB-0FEA-4642-9A61-1D2842DD9333}">
      <dgm:prSet/>
      <dgm:spPr/>
      <dgm:t>
        <a:bodyPr/>
        <a:lstStyle/>
        <a:p>
          <a:endParaRPr lang="en-IN"/>
        </a:p>
      </dgm:t>
    </dgm:pt>
    <dgm:pt modelId="{56AC479E-8F35-4B43-81EE-01D4CF9FBF60}" type="pres">
      <dgm:prSet presAssocID="{28783204-B487-4DE0-9120-3FB0A2C26DF4}" presName="CompostProcess" presStyleCnt="0">
        <dgm:presLayoutVars>
          <dgm:dir/>
          <dgm:resizeHandles val="exact"/>
        </dgm:presLayoutVars>
      </dgm:prSet>
      <dgm:spPr/>
    </dgm:pt>
    <dgm:pt modelId="{3DDDE990-4DBF-457D-8B1A-F7E90AA323C0}" type="pres">
      <dgm:prSet presAssocID="{28783204-B487-4DE0-9120-3FB0A2C26DF4}" presName="arrow" presStyleLbl="bgShp" presStyleIdx="0" presStyleCnt="1"/>
      <dgm:spPr/>
    </dgm:pt>
    <dgm:pt modelId="{534A94BD-AA70-4FFF-BF2B-803E66F4355A}" type="pres">
      <dgm:prSet presAssocID="{28783204-B487-4DE0-9120-3FB0A2C26DF4}" presName="linearProcess" presStyleCnt="0"/>
      <dgm:spPr/>
    </dgm:pt>
    <dgm:pt modelId="{77802BAB-7919-4B4B-8D25-600EA566FECF}" type="pres">
      <dgm:prSet presAssocID="{8C5757E0-767F-4465-B002-F263220005AB}" presName="textNode" presStyleLbl="node1" presStyleIdx="0" presStyleCnt="8">
        <dgm:presLayoutVars>
          <dgm:bulletEnabled val="1"/>
        </dgm:presLayoutVars>
      </dgm:prSet>
      <dgm:spPr/>
    </dgm:pt>
    <dgm:pt modelId="{D7E1C884-A816-4776-93C7-AABCA784A772}" type="pres">
      <dgm:prSet presAssocID="{E2D49B4E-A0F4-419E-A4BE-01655D0B9C41}" presName="sibTrans" presStyleCnt="0"/>
      <dgm:spPr/>
    </dgm:pt>
    <dgm:pt modelId="{6F8C953E-E3EC-4897-A0C6-9F2B9A1FD198}" type="pres">
      <dgm:prSet presAssocID="{47C567A4-19F5-427D-89B0-56A6BE7E228C}" presName="textNode" presStyleLbl="node1" presStyleIdx="1" presStyleCnt="8">
        <dgm:presLayoutVars>
          <dgm:bulletEnabled val="1"/>
        </dgm:presLayoutVars>
      </dgm:prSet>
      <dgm:spPr/>
    </dgm:pt>
    <dgm:pt modelId="{20203DC5-0CF7-4339-B32C-ED4B37548405}" type="pres">
      <dgm:prSet presAssocID="{4BBDD0F2-6548-4F8D-9EF9-85402A6B3075}" presName="sibTrans" presStyleCnt="0"/>
      <dgm:spPr/>
    </dgm:pt>
    <dgm:pt modelId="{FBE5E21D-7AB0-4F9C-9DC8-5A92DE790A9F}" type="pres">
      <dgm:prSet presAssocID="{B8F2F9F0-B325-4F98-9611-1AFC1F512753}" presName="textNode" presStyleLbl="node1" presStyleIdx="2" presStyleCnt="8">
        <dgm:presLayoutVars>
          <dgm:bulletEnabled val="1"/>
        </dgm:presLayoutVars>
      </dgm:prSet>
      <dgm:spPr/>
    </dgm:pt>
    <dgm:pt modelId="{34C0ED0A-CA42-458C-9E51-43B1875127F8}" type="pres">
      <dgm:prSet presAssocID="{B3005B1E-69EE-43AB-B2D7-40C38F28D839}" presName="sibTrans" presStyleCnt="0"/>
      <dgm:spPr/>
    </dgm:pt>
    <dgm:pt modelId="{F70BA7AA-9A6D-4763-AEF7-CBCE380E7AB7}" type="pres">
      <dgm:prSet presAssocID="{93F308F9-5825-4775-807D-44DE3BB9792F}" presName="textNode" presStyleLbl="node1" presStyleIdx="3" presStyleCnt="8">
        <dgm:presLayoutVars>
          <dgm:bulletEnabled val="1"/>
        </dgm:presLayoutVars>
      </dgm:prSet>
      <dgm:spPr/>
    </dgm:pt>
    <dgm:pt modelId="{88846C77-30A6-4035-A7C6-D4D9497159A9}" type="pres">
      <dgm:prSet presAssocID="{31B7EDAF-DD80-402B-BFFF-548F4C9B039F}" presName="sibTrans" presStyleCnt="0"/>
      <dgm:spPr/>
    </dgm:pt>
    <dgm:pt modelId="{0644E08C-8EC9-416E-B0F1-A3CEB88BF41F}" type="pres">
      <dgm:prSet presAssocID="{90417367-518A-459D-9454-9B42F86EC7C6}" presName="textNode" presStyleLbl="node1" presStyleIdx="4" presStyleCnt="8">
        <dgm:presLayoutVars>
          <dgm:bulletEnabled val="1"/>
        </dgm:presLayoutVars>
      </dgm:prSet>
      <dgm:spPr/>
    </dgm:pt>
    <dgm:pt modelId="{E032083A-9348-4CBC-AFF7-AF5A1139AB26}" type="pres">
      <dgm:prSet presAssocID="{E168ED14-0D34-4DF6-BEE9-F0AAB89F2ABF}" presName="sibTrans" presStyleCnt="0"/>
      <dgm:spPr/>
    </dgm:pt>
    <dgm:pt modelId="{64BAF27F-6A49-4B2F-930E-2411C82A96A0}" type="pres">
      <dgm:prSet presAssocID="{C504E5B2-B21B-4580-995C-2BFB3934C78A}" presName="textNode" presStyleLbl="node1" presStyleIdx="5" presStyleCnt="8">
        <dgm:presLayoutVars>
          <dgm:bulletEnabled val="1"/>
        </dgm:presLayoutVars>
      </dgm:prSet>
      <dgm:spPr/>
    </dgm:pt>
    <dgm:pt modelId="{65BD7871-9340-4E94-A37E-A1EED48F1C14}" type="pres">
      <dgm:prSet presAssocID="{167A3E51-BE49-4C62-A57B-5D8CFCD49E1C}" presName="sibTrans" presStyleCnt="0"/>
      <dgm:spPr/>
    </dgm:pt>
    <dgm:pt modelId="{0E8EC861-F5EC-4160-91A1-3C3C995AF551}" type="pres">
      <dgm:prSet presAssocID="{788C7C93-FFDE-4D9D-BE92-8F6745F7779E}" presName="textNode" presStyleLbl="node1" presStyleIdx="6" presStyleCnt="8">
        <dgm:presLayoutVars>
          <dgm:bulletEnabled val="1"/>
        </dgm:presLayoutVars>
      </dgm:prSet>
      <dgm:spPr/>
    </dgm:pt>
    <dgm:pt modelId="{0E1DB973-EF74-4719-A48A-67C79A0FEA0B}" type="pres">
      <dgm:prSet presAssocID="{465110E9-AF07-47C9-9F8C-44A458A13103}" presName="sibTrans" presStyleCnt="0"/>
      <dgm:spPr/>
    </dgm:pt>
    <dgm:pt modelId="{57C8B2FF-F97C-49EF-B02F-D0BD6F268FB8}" type="pres">
      <dgm:prSet presAssocID="{1F02ABB9-8114-4290-B03D-0B9FE3BC3805}" presName="textNode" presStyleLbl="node1" presStyleIdx="7" presStyleCnt="8">
        <dgm:presLayoutVars>
          <dgm:bulletEnabled val="1"/>
        </dgm:presLayoutVars>
      </dgm:prSet>
      <dgm:spPr/>
    </dgm:pt>
  </dgm:ptLst>
  <dgm:cxnLst>
    <dgm:cxn modelId="{00154902-773F-463F-B1B2-E8CC2F21F1F9}" srcId="{28783204-B487-4DE0-9120-3FB0A2C26DF4}" destId="{8C5757E0-767F-4465-B002-F263220005AB}" srcOrd="0" destOrd="0" parTransId="{9EC9F9D8-A271-4259-A29A-8A4D7518B5BE}" sibTransId="{E2D49B4E-A0F4-419E-A4BE-01655D0B9C41}"/>
    <dgm:cxn modelId="{2C2C9109-F419-4E30-B4FB-F29C9A14920E}" type="presOf" srcId="{8C5757E0-767F-4465-B002-F263220005AB}" destId="{77802BAB-7919-4B4B-8D25-600EA566FECF}" srcOrd="0" destOrd="0" presId="urn:microsoft.com/office/officeart/2005/8/layout/hProcess9"/>
    <dgm:cxn modelId="{C1269D3E-B001-4FE9-A6EC-F0518C730AC3}" type="presOf" srcId="{B8F2F9F0-B325-4F98-9611-1AFC1F512753}" destId="{FBE5E21D-7AB0-4F9C-9DC8-5A92DE790A9F}" srcOrd="0" destOrd="0" presId="urn:microsoft.com/office/officeart/2005/8/layout/hProcess9"/>
    <dgm:cxn modelId="{4A66D861-4842-4F6C-842B-A0A9BBBAD743}" srcId="{28783204-B487-4DE0-9120-3FB0A2C26DF4}" destId="{90417367-518A-459D-9454-9B42F86EC7C6}" srcOrd="4" destOrd="0" parTransId="{59D6EA02-42B2-4119-8B98-8108C04D0456}" sibTransId="{E168ED14-0D34-4DF6-BEE9-F0AAB89F2ABF}"/>
    <dgm:cxn modelId="{9F6FD665-2AA5-425E-8AD2-2F8246BD87A6}" srcId="{28783204-B487-4DE0-9120-3FB0A2C26DF4}" destId="{1F02ABB9-8114-4290-B03D-0B9FE3BC3805}" srcOrd="7" destOrd="0" parTransId="{FB32EFDB-C525-4DA4-B5A2-1B2642F47E9F}" sibTransId="{D11FE4BA-0E81-497E-8147-956CF453B3AB}"/>
    <dgm:cxn modelId="{2B22C366-6983-42EC-A962-03482295E955}" srcId="{28783204-B487-4DE0-9120-3FB0A2C26DF4}" destId="{B8F2F9F0-B325-4F98-9611-1AFC1F512753}" srcOrd="2" destOrd="0" parTransId="{9F1A6349-C453-45D6-B5CC-044BA4853220}" sibTransId="{B3005B1E-69EE-43AB-B2D7-40C38F28D839}"/>
    <dgm:cxn modelId="{7DEE3851-3D9E-4AF4-9109-52C34F55A402}" type="presOf" srcId="{93F308F9-5825-4775-807D-44DE3BB9792F}" destId="{F70BA7AA-9A6D-4763-AEF7-CBCE380E7AB7}" srcOrd="0" destOrd="0" presId="urn:microsoft.com/office/officeart/2005/8/layout/hProcess9"/>
    <dgm:cxn modelId="{D31AD15A-2C46-4EF4-B02E-75F57DCE197B}" type="presOf" srcId="{1F02ABB9-8114-4290-B03D-0B9FE3BC3805}" destId="{57C8B2FF-F97C-49EF-B02F-D0BD6F268FB8}" srcOrd="0" destOrd="0" presId="urn:microsoft.com/office/officeart/2005/8/layout/hProcess9"/>
    <dgm:cxn modelId="{D5429780-384C-4A5D-ACDB-1715FDF284A2}" type="presOf" srcId="{28783204-B487-4DE0-9120-3FB0A2C26DF4}" destId="{56AC479E-8F35-4B43-81EE-01D4CF9FBF60}" srcOrd="0" destOrd="0" presId="urn:microsoft.com/office/officeart/2005/8/layout/hProcess9"/>
    <dgm:cxn modelId="{7203738D-D8CD-4D7C-8815-400C15E9E7C2}" type="presOf" srcId="{788C7C93-FFDE-4D9D-BE92-8F6745F7779E}" destId="{0E8EC861-F5EC-4160-91A1-3C3C995AF551}" srcOrd="0" destOrd="0" presId="urn:microsoft.com/office/officeart/2005/8/layout/hProcess9"/>
    <dgm:cxn modelId="{DB609995-CF32-4C9E-AE20-04DB615F9D82}" type="presOf" srcId="{47C567A4-19F5-427D-89B0-56A6BE7E228C}" destId="{6F8C953E-E3EC-4897-A0C6-9F2B9A1FD198}" srcOrd="0" destOrd="0" presId="urn:microsoft.com/office/officeart/2005/8/layout/hProcess9"/>
    <dgm:cxn modelId="{CB3CB9A8-D628-475B-8AAA-2CDA8D414727}" srcId="{28783204-B487-4DE0-9120-3FB0A2C26DF4}" destId="{47C567A4-19F5-427D-89B0-56A6BE7E228C}" srcOrd="1" destOrd="0" parTransId="{E109CFBA-DFF1-4794-B8B7-59C8C94B6915}" sibTransId="{4BBDD0F2-6548-4F8D-9EF9-85402A6B3075}"/>
    <dgm:cxn modelId="{51C684AE-C369-499B-8A55-69BE0AA7F3CF}" type="presOf" srcId="{C504E5B2-B21B-4580-995C-2BFB3934C78A}" destId="{64BAF27F-6A49-4B2F-930E-2411C82A96A0}" srcOrd="0" destOrd="0" presId="urn:microsoft.com/office/officeart/2005/8/layout/hProcess9"/>
    <dgm:cxn modelId="{FFFF6ABB-0FEA-4642-9A61-1D2842DD9333}" srcId="{28783204-B487-4DE0-9120-3FB0A2C26DF4}" destId="{788C7C93-FFDE-4D9D-BE92-8F6745F7779E}" srcOrd="6" destOrd="0" parTransId="{239C31D1-652A-4FB2-B879-5D6AE064DA66}" sibTransId="{465110E9-AF07-47C9-9F8C-44A458A13103}"/>
    <dgm:cxn modelId="{B83917EB-AD97-4D77-9A38-B0A742EA0AE0}" srcId="{28783204-B487-4DE0-9120-3FB0A2C26DF4}" destId="{93F308F9-5825-4775-807D-44DE3BB9792F}" srcOrd="3" destOrd="0" parTransId="{56C252DE-BF69-4B4A-9BAB-8906676A315C}" sibTransId="{31B7EDAF-DD80-402B-BFFF-548F4C9B039F}"/>
    <dgm:cxn modelId="{046960F8-9857-4C0E-8B13-B0315C068B0E}" type="presOf" srcId="{90417367-518A-459D-9454-9B42F86EC7C6}" destId="{0644E08C-8EC9-416E-B0F1-A3CEB88BF41F}" srcOrd="0" destOrd="0" presId="urn:microsoft.com/office/officeart/2005/8/layout/hProcess9"/>
    <dgm:cxn modelId="{D331CAFE-CB5D-4938-82B6-49C03FBD7BFE}" srcId="{28783204-B487-4DE0-9120-3FB0A2C26DF4}" destId="{C504E5B2-B21B-4580-995C-2BFB3934C78A}" srcOrd="5" destOrd="0" parTransId="{B5DA5958-4853-4CCC-BFC5-E20403054F58}" sibTransId="{167A3E51-BE49-4C62-A57B-5D8CFCD49E1C}"/>
    <dgm:cxn modelId="{5B02806C-966E-4085-965E-AFF71903BD14}" type="presParOf" srcId="{56AC479E-8F35-4B43-81EE-01D4CF9FBF60}" destId="{3DDDE990-4DBF-457D-8B1A-F7E90AA323C0}" srcOrd="0" destOrd="0" presId="urn:microsoft.com/office/officeart/2005/8/layout/hProcess9"/>
    <dgm:cxn modelId="{CD66D682-DBF8-43C1-8BF3-94D153398719}" type="presParOf" srcId="{56AC479E-8F35-4B43-81EE-01D4CF9FBF60}" destId="{534A94BD-AA70-4FFF-BF2B-803E66F4355A}" srcOrd="1" destOrd="0" presId="urn:microsoft.com/office/officeart/2005/8/layout/hProcess9"/>
    <dgm:cxn modelId="{4CC435CF-DC7E-4736-A5F1-3A097C850BB7}" type="presParOf" srcId="{534A94BD-AA70-4FFF-BF2B-803E66F4355A}" destId="{77802BAB-7919-4B4B-8D25-600EA566FECF}" srcOrd="0" destOrd="0" presId="urn:microsoft.com/office/officeart/2005/8/layout/hProcess9"/>
    <dgm:cxn modelId="{46BEB862-C132-4D15-A9E7-C602CB0092B3}" type="presParOf" srcId="{534A94BD-AA70-4FFF-BF2B-803E66F4355A}" destId="{D7E1C884-A816-4776-93C7-AABCA784A772}" srcOrd="1" destOrd="0" presId="urn:microsoft.com/office/officeart/2005/8/layout/hProcess9"/>
    <dgm:cxn modelId="{12B52E43-BB6A-45F5-8BE2-0185EBEC8ED2}" type="presParOf" srcId="{534A94BD-AA70-4FFF-BF2B-803E66F4355A}" destId="{6F8C953E-E3EC-4897-A0C6-9F2B9A1FD198}" srcOrd="2" destOrd="0" presId="urn:microsoft.com/office/officeart/2005/8/layout/hProcess9"/>
    <dgm:cxn modelId="{5FA0C8A8-2233-4AF4-BCCC-32F2CBB5341F}" type="presParOf" srcId="{534A94BD-AA70-4FFF-BF2B-803E66F4355A}" destId="{20203DC5-0CF7-4339-B32C-ED4B37548405}" srcOrd="3" destOrd="0" presId="urn:microsoft.com/office/officeart/2005/8/layout/hProcess9"/>
    <dgm:cxn modelId="{FECCA084-59A2-447F-87EB-5A162501C5C6}" type="presParOf" srcId="{534A94BD-AA70-4FFF-BF2B-803E66F4355A}" destId="{FBE5E21D-7AB0-4F9C-9DC8-5A92DE790A9F}" srcOrd="4" destOrd="0" presId="urn:microsoft.com/office/officeart/2005/8/layout/hProcess9"/>
    <dgm:cxn modelId="{B3560C2F-017E-4387-99E2-DBEF0CC6C6E3}" type="presParOf" srcId="{534A94BD-AA70-4FFF-BF2B-803E66F4355A}" destId="{34C0ED0A-CA42-458C-9E51-43B1875127F8}" srcOrd="5" destOrd="0" presId="urn:microsoft.com/office/officeart/2005/8/layout/hProcess9"/>
    <dgm:cxn modelId="{98A97011-8C5A-4247-B503-BC871D2BF0F5}" type="presParOf" srcId="{534A94BD-AA70-4FFF-BF2B-803E66F4355A}" destId="{F70BA7AA-9A6D-4763-AEF7-CBCE380E7AB7}" srcOrd="6" destOrd="0" presId="urn:microsoft.com/office/officeart/2005/8/layout/hProcess9"/>
    <dgm:cxn modelId="{D226111E-D9C3-4511-80A9-22E179378E5F}" type="presParOf" srcId="{534A94BD-AA70-4FFF-BF2B-803E66F4355A}" destId="{88846C77-30A6-4035-A7C6-D4D9497159A9}" srcOrd="7" destOrd="0" presId="urn:microsoft.com/office/officeart/2005/8/layout/hProcess9"/>
    <dgm:cxn modelId="{2FC8A270-2878-4A62-B1A2-FB99244682D6}" type="presParOf" srcId="{534A94BD-AA70-4FFF-BF2B-803E66F4355A}" destId="{0644E08C-8EC9-416E-B0F1-A3CEB88BF41F}" srcOrd="8" destOrd="0" presId="urn:microsoft.com/office/officeart/2005/8/layout/hProcess9"/>
    <dgm:cxn modelId="{9EA8F903-528D-4708-9CFB-D03D28028076}" type="presParOf" srcId="{534A94BD-AA70-4FFF-BF2B-803E66F4355A}" destId="{E032083A-9348-4CBC-AFF7-AF5A1139AB26}" srcOrd="9" destOrd="0" presId="urn:microsoft.com/office/officeart/2005/8/layout/hProcess9"/>
    <dgm:cxn modelId="{F7FDA194-1C24-4B9A-B168-5AF7E464C0B5}" type="presParOf" srcId="{534A94BD-AA70-4FFF-BF2B-803E66F4355A}" destId="{64BAF27F-6A49-4B2F-930E-2411C82A96A0}" srcOrd="10" destOrd="0" presId="urn:microsoft.com/office/officeart/2005/8/layout/hProcess9"/>
    <dgm:cxn modelId="{3B7FC390-8133-44D8-9C26-EF8E3E3284C4}" type="presParOf" srcId="{534A94BD-AA70-4FFF-BF2B-803E66F4355A}" destId="{65BD7871-9340-4E94-A37E-A1EED48F1C14}" srcOrd="11" destOrd="0" presId="urn:microsoft.com/office/officeart/2005/8/layout/hProcess9"/>
    <dgm:cxn modelId="{447FFB62-29AE-43D7-8FA4-44E00BD65088}" type="presParOf" srcId="{534A94BD-AA70-4FFF-BF2B-803E66F4355A}" destId="{0E8EC861-F5EC-4160-91A1-3C3C995AF551}" srcOrd="12" destOrd="0" presId="urn:microsoft.com/office/officeart/2005/8/layout/hProcess9"/>
    <dgm:cxn modelId="{D361FB74-2680-417A-9900-C00F5B59E2C3}" type="presParOf" srcId="{534A94BD-AA70-4FFF-BF2B-803E66F4355A}" destId="{0E1DB973-EF74-4719-A48A-67C79A0FEA0B}" srcOrd="13" destOrd="0" presId="urn:microsoft.com/office/officeart/2005/8/layout/hProcess9"/>
    <dgm:cxn modelId="{CBE7467E-292F-4082-82F4-AF462BC55A08}" type="presParOf" srcId="{534A94BD-AA70-4FFF-BF2B-803E66F4355A}" destId="{57C8B2FF-F97C-49EF-B02F-D0BD6F268FB8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783204-B487-4DE0-9120-3FB0A2C26DF4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</dgm:pt>
    <dgm:pt modelId="{8C5757E0-767F-4465-B002-F263220005AB}">
      <dgm:prSet phldrT="[Text]"/>
      <dgm:spPr/>
      <dgm:t>
        <a:bodyPr/>
        <a:lstStyle/>
        <a:p>
          <a:r>
            <a:rPr lang="en-IN" dirty="0"/>
            <a:t>Global Water Footprint Collection</a:t>
          </a:r>
        </a:p>
      </dgm:t>
    </dgm:pt>
    <dgm:pt modelId="{9EC9F9D8-A271-4259-A29A-8A4D7518B5BE}" type="parTrans" cxnId="{00154902-773F-463F-B1B2-E8CC2F21F1F9}">
      <dgm:prSet/>
      <dgm:spPr/>
      <dgm:t>
        <a:bodyPr/>
        <a:lstStyle/>
        <a:p>
          <a:endParaRPr lang="en-IN"/>
        </a:p>
      </dgm:t>
    </dgm:pt>
    <dgm:pt modelId="{E2D49B4E-A0F4-419E-A4BE-01655D0B9C41}" type="sibTrans" cxnId="{00154902-773F-463F-B1B2-E8CC2F21F1F9}">
      <dgm:prSet/>
      <dgm:spPr/>
      <dgm:t>
        <a:bodyPr/>
        <a:lstStyle/>
        <a:p>
          <a:endParaRPr lang="en-IN"/>
        </a:p>
      </dgm:t>
    </dgm:pt>
    <dgm:pt modelId="{47C567A4-19F5-427D-89B0-56A6BE7E228C}">
      <dgm:prSet phldrT="[Text]"/>
      <dgm:spPr/>
      <dgm:t>
        <a:bodyPr/>
        <a:lstStyle/>
        <a:p>
          <a:r>
            <a:rPr lang="en-IN" dirty="0"/>
            <a:t>Preprocessing</a:t>
          </a:r>
        </a:p>
      </dgm:t>
    </dgm:pt>
    <dgm:pt modelId="{E109CFBA-DFF1-4794-B8B7-59C8C94B6915}" type="parTrans" cxnId="{CB3CB9A8-D628-475B-8AAA-2CDA8D414727}">
      <dgm:prSet/>
      <dgm:spPr/>
      <dgm:t>
        <a:bodyPr/>
        <a:lstStyle/>
        <a:p>
          <a:endParaRPr lang="en-IN"/>
        </a:p>
      </dgm:t>
    </dgm:pt>
    <dgm:pt modelId="{4BBDD0F2-6548-4F8D-9EF9-85402A6B3075}" type="sibTrans" cxnId="{CB3CB9A8-D628-475B-8AAA-2CDA8D414727}">
      <dgm:prSet/>
      <dgm:spPr/>
      <dgm:t>
        <a:bodyPr/>
        <a:lstStyle/>
        <a:p>
          <a:endParaRPr lang="en-IN"/>
        </a:p>
      </dgm:t>
    </dgm:pt>
    <dgm:pt modelId="{B8F2F9F0-B325-4F98-9611-1AFC1F512753}">
      <dgm:prSet phldrT="[Text]"/>
      <dgm:spPr/>
      <dgm:t>
        <a:bodyPr/>
        <a:lstStyle/>
        <a:p>
          <a:r>
            <a:rPr lang="en-IN" dirty="0"/>
            <a:t>Company Dataset Collection</a:t>
          </a:r>
        </a:p>
      </dgm:t>
    </dgm:pt>
    <dgm:pt modelId="{9F1A6349-C453-45D6-B5CC-044BA4853220}" type="parTrans" cxnId="{2B22C366-6983-42EC-A962-03482295E955}">
      <dgm:prSet/>
      <dgm:spPr/>
      <dgm:t>
        <a:bodyPr/>
        <a:lstStyle/>
        <a:p>
          <a:endParaRPr lang="en-IN"/>
        </a:p>
      </dgm:t>
    </dgm:pt>
    <dgm:pt modelId="{B3005B1E-69EE-43AB-B2D7-40C38F28D839}" type="sibTrans" cxnId="{2B22C366-6983-42EC-A962-03482295E955}">
      <dgm:prSet/>
      <dgm:spPr/>
      <dgm:t>
        <a:bodyPr/>
        <a:lstStyle/>
        <a:p>
          <a:endParaRPr lang="en-IN"/>
        </a:p>
      </dgm:t>
    </dgm:pt>
    <dgm:pt modelId="{1F02ABB9-8114-4290-B03D-0B9FE3BC3805}">
      <dgm:prSet phldrT="[Text]"/>
      <dgm:spPr/>
      <dgm:t>
        <a:bodyPr/>
        <a:lstStyle/>
        <a:p>
          <a:r>
            <a:rPr lang="en-IN" dirty="0"/>
            <a:t>Impact </a:t>
          </a:r>
          <a:r>
            <a:rPr lang="en-IN" dirty="0" err="1"/>
            <a:t>Modeling</a:t>
          </a:r>
          <a:endParaRPr lang="en-IN" dirty="0"/>
        </a:p>
      </dgm:t>
    </dgm:pt>
    <dgm:pt modelId="{FB32EFDB-C525-4DA4-B5A2-1B2642F47E9F}" type="parTrans" cxnId="{9F6FD665-2AA5-425E-8AD2-2F8246BD87A6}">
      <dgm:prSet/>
      <dgm:spPr/>
      <dgm:t>
        <a:bodyPr/>
        <a:lstStyle/>
        <a:p>
          <a:endParaRPr lang="en-IN"/>
        </a:p>
      </dgm:t>
    </dgm:pt>
    <dgm:pt modelId="{D11FE4BA-0E81-497E-8147-956CF453B3AB}" type="sibTrans" cxnId="{9F6FD665-2AA5-425E-8AD2-2F8246BD87A6}">
      <dgm:prSet/>
      <dgm:spPr/>
      <dgm:t>
        <a:bodyPr/>
        <a:lstStyle/>
        <a:p>
          <a:endParaRPr lang="en-IN"/>
        </a:p>
      </dgm:t>
    </dgm:pt>
    <dgm:pt modelId="{93F308F9-5825-4775-807D-44DE3BB9792F}">
      <dgm:prSet phldrT="[Text]"/>
      <dgm:spPr/>
      <dgm:t>
        <a:bodyPr/>
        <a:lstStyle/>
        <a:p>
          <a:r>
            <a:rPr lang="en-IN" dirty="0"/>
            <a:t>Custom Dataset Creation</a:t>
          </a:r>
        </a:p>
      </dgm:t>
    </dgm:pt>
    <dgm:pt modelId="{56C252DE-BF69-4B4A-9BAB-8906676A315C}" type="parTrans" cxnId="{B83917EB-AD97-4D77-9A38-B0A742EA0AE0}">
      <dgm:prSet/>
      <dgm:spPr/>
      <dgm:t>
        <a:bodyPr/>
        <a:lstStyle/>
        <a:p>
          <a:endParaRPr lang="en-IN"/>
        </a:p>
      </dgm:t>
    </dgm:pt>
    <dgm:pt modelId="{31B7EDAF-DD80-402B-BFFF-548F4C9B039F}" type="sibTrans" cxnId="{B83917EB-AD97-4D77-9A38-B0A742EA0AE0}">
      <dgm:prSet/>
      <dgm:spPr/>
      <dgm:t>
        <a:bodyPr/>
        <a:lstStyle/>
        <a:p>
          <a:endParaRPr lang="en-IN"/>
        </a:p>
      </dgm:t>
    </dgm:pt>
    <dgm:pt modelId="{90417367-518A-459D-9454-9B42F86EC7C6}">
      <dgm:prSet phldrT="[Text]"/>
      <dgm:spPr/>
      <dgm:t>
        <a:bodyPr/>
        <a:lstStyle/>
        <a:p>
          <a:r>
            <a:rPr lang="en-IN" dirty="0"/>
            <a:t>Sales Data Integration</a:t>
          </a:r>
        </a:p>
      </dgm:t>
    </dgm:pt>
    <dgm:pt modelId="{59D6EA02-42B2-4119-8B98-8108C04D0456}" type="parTrans" cxnId="{4A66D861-4842-4F6C-842B-A0A9BBBAD743}">
      <dgm:prSet/>
      <dgm:spPr/>
      <dgm:t>
        <a:bodyPr/>
        <a:lstStyle/>
        <a:p>
          <a:endParaRPr lang="en-IN"/>
        </a:p>
      </dgm:t>
    </dgm:pt>
    <dgm:pt modelId="{E168ED14-0D34-4DF6-BEE9-F0AAB89F2ABF}" type="sibTrans" cxnId="{4A66D861-4842-4F6C-842B-A0A9BBBAD743}">
      <dgm:prSet/>
      <dgm:spPr/>
      <dgm:t>
        <a:bodyPr/>
        <a:lstStyle/>
        <a:p>
          <a:endParaRPr lang="en-IN"/>
        </a:p>
      </dgm:t>
    </dgm:pt>
    <dgm:pt modelId="{C504E5B2-B21B-4580-995C-2BFB3934C78A}">
      <dgm:prSet phldrT="[Text]"/>
      <dgm:spPr/>
      <dgm:t>
        <a:bodyPr/>
        <a:lstStyle/>
        <a:p>
          <a:r>
            <a:rPr lang="en-IN" dirty="0"/>
            <a:t>Monte Carlo Stock Calculator Implementation</a:t>
          </a:r>
        </a:p>
      </dgm:t>
    </dgm:pt>
    <dgm:pt modelId="{B5DA5958-4853-4CCC-BFC5-E20403054F58}" type="parTrans" cxnId="{D331CAFE-CB5D-4938-82B6-49C03FBD7BFE}">
      <dgm:prSet/>
      <dgm:spPr/>
      <dgm:t>
        <a:bodyPr/>
        <a:lstStyle/>
        <a:p>
          <a:endParaRPr lang="en-IN"/>
        </a:p>
      </dgm:t>
    </dgm:pt>
    <dgm:pt modelId="{167A3E51-BE49-4C62-A57B-5D8CFCD49E1C}" type="sibTrans" cxnId="{D331CAFE-CB5D-4938-82B6-49C03FBD7BFE}">
      <dgm:prSet/>
      <dgm:spPr/>
      <dgm:t>
        <a:bodyPr/>
        <a:lstStyle/>
        <a:p>
          <a:endParaRPr lang="en-IN"/>
        </a:p>
      </dgm:t>
    </dgm:pt>
    <dgm:pt modelId="{788C7C93-FFDE-4D9D-BE92-8F6745F7779E}">
      <dgm:prSet phldrT="[Text]"/>
      <dgm:spPr/>
      <dgm:t>
        <a:bodyPr/>
        <a:lstStyle/>
        <a:p>
          <a:r>
            <a:rPr lang="en-IN" dirty="0"/>
            <a:t>Factor Assignment</a:t>
          </a:r>
        </a:p>
      </dgm:t>
    </dgm:pt>
    <dgm:pt modelId="{239C31D1-652A-4FB2-B879-5D6AE064DA66}" type="parTrans" cxnId="{FFFF6ABB-0FEA-4642-9A61-1D2842DD9333}">
      <dgm:prSet/>
      <dgm:spPr/>
      <dgm:t>
        <a:bodyPr/>
        <a:lstStyle/>
        <a:p>
          <a:endParaRPr lang="en-IN"/>
        </a:p>
      </dgm:t>
    </dgm:pt>
    <dgm:pt modelId="{465110E9-AF07-47C9-9F8C-44A458A13103}" type="sibTrans" cxnId="{FFFF6ABB-0FEA-4642-9A61-1D2842DD9333}">
      <dgm:prSet/>
      <dgm:spPr/>
      <dgm:t>
        <a:bodyPr/>
        <a:lstStyle/>
        <a:p>
          <a:endParaRPr lang="en-IN"/>
        </a:p>
      </dgm:t>
    </dgm:pt>
    <dgm:pt modelId="{56AC479E-8F35-4B43-81EE-01D4CF9FBF60}" type="pres">
      <dgm:prSet presAssocID="{28783204-B487-4DE0-9120-3FB0A2C26DF4}" presName="CompostProcess" presStyleCnt="0">
        <dgm:presLayoutVars>
          <dgm:dir/>
          <dgm:resizeHandles val="exact"/>
        </dgm:presLayoutVars>
      </dgm:prSet>
      <dgm:spPr/>
    </dgm:pt>
    <dgm:pt modelId="{3DDDE990-4DBF-457D-8B1A-F7E90AA323C0}" type="pres">
      <dgm:prSet presAssocID="{28783204-B487-4DE0-9120-3FB0A2C26DF4}" presName="arrow" presStyleLbl="bgShp" presStyleIdx="0" presStyleCnt="1"/>
      <dgm:spPr/>
    </dgm:pt>
    <dgm:pt modelId="{534A94BD-AA70-4FFF-BF2B-803E66F4355A}" type="pres">
      <dgm:prSet presAssocID="{28783204-B487-4DE0-9120-3FB0A2C26DF4}" presName="linearProcess" presStyleCnt="0"/>
      <dgm:spPr/>
    </dgm:pt>
    <dgm:pt modelId="{77802BAB-7919-4B4B-8D25-600EA566FECF}" type="pres">
      <dgm:prSet presAssocID="{8C5757E0-767F-4465-B002-F263220005AB}" presName="textNode" presStyleLbl="node1" presStyleIdx="0" presStyleCnt="8">
        <dgm:presLayoutVars>
          <dgm:bulletEnabled val="1"/>
        </dgm:presLayoutVars>
      </dgm:prSet>
      <dgm:spPr/>
    </dgm:pt>
    <dgm:pt modelId="{D7E1C884-A816-4776-93C7-AABCA784A772}" type="pres">
      <dgm:prSet presAssocID="{E2D49B4E-A0F4-419E-A4BE-01655D0B9C41}" presName="sibTrans" presStyleCnt="0"/>
      <dgm:spPr/>
    </dgm:pt>
    <dgm:pt modelId="{6F8C953E-E3EC-4897-A0C6-9F2B9A1FD198}" type="pres">
      <dgm:prSet presAssocID="{47C567A4-19F5-427D-89B0-56A6BE7E228C}" presName="textNode" presStyleLbl="node1" presStyleIdx="1" presStyleCnt="8">
        <dgm:presLayoutVars>
          <dgm:bulletEnabled val="1"/>
        </dgm:presLayoutVars>
      </dgm:prSet>
      <dgm:spPr/>
    </dgm:pt>
    <dgm:pt modelId="{20203DC5-0CF7-4339-B32C-ED4B37548405}" type="pres">
      <dgm:prSet presAssocID="{4BBDD0F2-6548-4F8D-9EF9-85402A6B3075}" presName="sibTrans" presStyleCnt="0"/>
      <dgm:spPr/>
    </dgm:pt>
    <dgm:pt modelId="{FBE5E21D-7AB0-4F9C-9DC8-5A92DE790A9F}" type="pres">
      <dgm:prSet presAssocID="{B8F2F9F0-B325-4F98-9611-1AFC1F512753}" presName="textNode" presStyleLbl="node1" presStyleIdx="2" presStyleCnt="8">
        <dgm:presLayoutVars>
          <dgm:bulletEnabled val="1"/>
        </dgm:presLayoutVars>
      </dgm:prSet>
      <dgm:spPr/>
    </dgm:pt>
    <dgm:pt modelId="{34C0ED0A-CA42-458C-9E51-43B1875127F8}" type="pres">
      <dgm:prSet presAssocID="{B3005B1E-69EE-43AB-B2D7-40C38F28D839}" presName="sibTrans" presStyleCnt="0"/>
      <dgm:spPr/>
    </dgm:pt>
    <dgm:pt modelId="{F70BA7AA-9A6D-4763-AEF7-CBCE380E7AB7}" type="pres">
      <dgm:prSet presAssocID="{93F308F9-5825-4775-807D-44DE3BB9792F}" presName="textNode" presStyleLbl="node1" presStyleIdx="3" presStyleCnt="8">
        <dgm:presLayoutVars>
          <dgm:bulletEnabled val="1"/>
        </dgm:presLayoutVars>
      </dgm:prSet>
      <dgm:spPr/>
    </dgm:pt>
    <dgm:pt modelId="{88846C77-30A6-4035-A7C6-D4D9497159A9}" type="pres">
      <dgm:prSet presAssocID="{31B7EDAF-DD80-402B-BFFF-548F4C9B039F}" presName="sibTrans" presStyleCnt="0"/>
      <dgm:spPr/>
    </dgm:pt>
    <dgm:pt modelId="{0644E08C-8EC9-416E-B0F1-A3CEB88BF41F}" type="pres">
      <dgm:prSet presAssocID="{90417367-518A-459D-9454-9B42F86EC7C6}" presName="textNode" presStyleLbl="node1" presStyleIdx="4" presStyleCnt="8">
        <dgm:presLayoutVars>
          <dgm:bulletEnabled val="1"/>
        </dgm:presLayoutVars>
      </dgm:prSet>
      <dgm:spPr/>
    </dgm:pt>
    <dgm:pt modelId="{E032083A-9348-4CBC-AFF7-AF5A1139AB26}" type="pres">
      <dgm:prSet presAssocID="{E168ED14-0D34-4DF6-BEE9-F0AAB89F2ABF}" presName="sibTrans" presStyleCnt="0"/>
      <dgm:spPr/>
    </dgm:pt>
    <dgm:pt modelId="{64BAF27F-6A49-4B2F-930E-2411C82A96A0}" type="pres">
      <dgm:prSet presAssocID="{C504E5B2-B21B-4580-995C-2BFB3934C78A}" presName="textNode" presStyleLbl="node1" presStyleIdx="5" presStyleCnt="8">
        <dgm:presLayoutVars>
          <dgm:bulletEnabled val="1"/>
        </dgm:presLayoutVars>
      </dgm:prSet>
      <dgm:spPr/>
    </dgm:pt>
    <dgm:pt modelId="{65BD7871-9340-4E94-A37E-A1EED48F1C14}" type="pres">
      <dgm:prSet presAssocID="{167A3E51-BE49-4C62-A57B-5D8CFCD49E1C}" presName="sibTrans" presStyleCnt="0"/>
      <dgm:spPr/>
    </dgm:pt>
    <dgm:pt modelId="{0E8EC861-F5EC-4160-91A1-3C3C995AF551}" type="pres">
      <dgm:prSet presAssocID="{788C7C93-FFDE-4D9D-BE92-8F6745F7779E}" presName="textNode" presStyleLbl="node1" presStyleIdx="6" presStyleCnt="8">
        <dgm:presLayoutVars>
          <dgm:bulletEnabled val="1"/>
        </dgm:presLayoutVars>
      </dgm:prSet>
      <dgm:spPr/>
    </dgm:pt>
    <dgm:pt modelId="{0E1DB973-EF74-4719-A48A-67C79A0FEA0B}" type="pres">
      <dgm:prSet presAssocID="{465110E9-AF07-47C9-9F8C-44A458A13103}" presName="sibTrans" presStyleCnt="0"/>
      <dgm:spPr/>
    </dgm:pt>
    <dgm:pt modelId="{57C8B2FF-F97C-49EF-B02F-D0BD6F268FB8}" type="pres">
      <dgm:prSet presAssocID="{1F02ABB9-8114-4290-B03D-0B9FE3BC3805}" presName="textNode" presStyleLbl="node1" presStyleIdx="7" presStyleCnt="8">
        <dgm:presLayoutVars>
          <dgm:bulletEnabled val="1"/>
        </dgm:presLayoutVars>
      </dgm:prSet>
      <dgm:spPr/>
    </dgm:pt>
  </dgm:ptLst>
  <dgm:cxnLst>
    <dgm:cxn modelId="{00154902-773F-463F-B1B2-E8CC2F21F1F9}" srcId="{28783204-B487-4DE0-9120-3FB0A2C26DF4}" destId="{8C5757E0-767F-4465-B002-F263220005AB}" srcOrd="0" destOrd="0" parTransId="{9EC9F9D8-A271-4259-A29A-8A4D7518B5BE}" sibTransId="{E2D49B4E-A0F4-419E-A4BE-01655D0B9C41}"/>
    <dgm:cxn modelId="{2C2C9109-F419-4E30-B4FB-F29C9A14920E}" type="presOf" srcId="{8C5757E0-767F-4465-B002-F263220005AB}" destId="{77802BAB-7919-4B4B-8D25-600EA566FECF}" srcOrd="0" destOrd="0" presId="urn:microsoft.com/office/officeart/2005/8/layout/hProcess9"/>
    <dgm:cxn modelId="{C1269D3E-B001-4FE9-A6EC-F0518C730AC3}" type="presOf" srcId="{B8F2F9F0-B325-4F98-9611-1AFC1F512753}" destId="{FBE5E21D-7AB0-4F9C-9DC8-5A92DE790A9F}" srcOrd="0" destOrd="0" presId="urn:microsoft.com/office/officeart/2005/8/layout/hProcess9"/>
    <dgm:cxn modelId="{4A66D861-4842-4F6C-842B-A0A9BBBAD743}" srcId="{28783204-B487-4DE0-9120-3FB0A2C26DF4}" destId="{90417367-518A-459D-9454-9B42F86EC7C6}" srcOrd="4" destOrd="0" parTransId="{59D6EA02-42B2-4119-8B98-8108C04D0456}" sibTransId="{E168ED14-0D34-4DF6-BEE9-F0AAB89F2ABF}"/>
    <dgm:cxn modelId="{9F6FD665-2AA5-425E-8AD2-2F8246BD87A6}" srcId="{28783204-B487-4DE0-9120-3FB0A2C26DF4}" destId="{1F02ABB9-8114-4290-B03D-0B9FE3BC3805}" srcOrd="7" destOrd="0" parTransId="{FB32EFDB-C525-4DA4-B5A2-1B2642F47E9F}" sibTransId="{D11FE4BA-0E81-497E-8147-956CF453B3AB}"/>
    <dgm:cxn modelId="{2B22C366-6983-42EC-A962-03482295E955}" srcId="{28783204-B487-4DE0-9120-3FB0A2C26DF4}" destId="{B8F2F9F0-B325-4F98-9611-1AFC1F512753}" srcOrd="2" destOrd="0" parTransId="{9F1A6349-C453-45D6-B5CC-044BA4853220}" sibTransId="{B3005B1E-69EE-43AB-B2D7-40C38F28D839}"/>
    <dgm:cxn modelId="{7DEE3851-3D9E-4AF4-9109-52C34F55A402}" type="presOf" srcId="{93F308F9-5825-4775-807D-44DE3BB9792F}" destId="{F70BA7AA-9A6D-4763-AEF7-CBCE380E7AB7}" srcOrd="0" destOrd="0" presId="urn:microsoft.com/office/officeart/2005/8/layout/hProcess9"/>
    <dgm:cxn modelId="{D31AD15A-2C46-4EF4-B02E-75F57DCE197B}" type="presOf" srcId="{1F02ABB9-8114-4290-B03D-0B9FE3BC3805}" destId="{57C8B2FF-F97C-49EF-B02F-D0BD6F268FB8}" srcOrd="0" destOrd="0" presId="urn:microsoft.com/office/officeart/2005/8/layout/hProcess9"/>
    <dgm:cxn modelId="{D5429780-384C-4A5D-ACDB-1715FDF284A2}" type="presOf" srcId="{28783204-B487-4DE0-9120-3FB0A2C26DF4}" destId="{56AC479E-8F35-4B43-81EE-01D4CF9FBF60}" srcOrd="0" destOrd="0" presId="urn:microsoft.com/office/officeart/2005/8/layout/hProcess9"/>
    <dgm:cxn modelId="{7203738D-D8CD-4D7C-8815-400C15E9E7C2}" type="presOf" srcId="{788C7C93-FFDE-4D9D-BE92-8F6745F7779E}" destId="{0E8EC861-F5EC-4160-91A1-3C3C995AF551}" srcOrd="0" destOrd="0" presId="urn:microsoft.com/office/officeart/2005/8/layout/hProcess9"/>
    <dgm:cxn modelId="{DB609995-CF32-4C9E-AE20-04DB615F9D82}" type="presOf" srcId="{47C567A4-19F5-427D-89B0-56A6BE7E228C}" destId="{6F8C953E-E3EC-4897-A0C6-9F2B9A1FD198}" srcOrd="0" destOrd="0" presId="urn:microsoft.com/office/officeart/2005/8/layout/hProcess9"/>
    <dgm:cxn modelId="{CB3CB9A8-D628-475B-8AAA-2CDA8D414727}" srcId="{28783204-B487-4DE0-9120-3FB0A2C26DF4}" destId="{47C567A4-19F5-427D-89B0-56A6BE7E228C}" srcOrd="1" destOrd="0" parTransId="{E109CFBA-DFF1-4794-B8B7-59C8C94B6915}" sibTransId="{4BBDD0F2-6548-4F8D-9EF9-85402A6B3075}"/>
    <dgm:cxn modelId="{51C684AE-C369-499B-8A55-69BE0AA7F3CF}" type="presOf" srcId="{C504E5B2-B21B-4580-995C-2BFB3934C78A}" destId="{64BAF27F-6A49-4B2F-930E-2411C82A96A0}" srcOrd="0" destOrd="0" presId="urn:microsoft.com/office/officeart/2005/8/layout/hProcess9"/>
    <dgm:cxn modelId="{FFFF6ABB-0FEA-4642-9A61-1D2842DD9333}" srcId="{28783204-B487-4DE0-9120-3FB0A2C26DF4}" destId="{788C7C93-FFDE-4D9D-BE92-8F6745F7779E}" srcOrd="6" destOrd="0" parTransId="{239C31D1-652A-4FB2-B879-5D6AE064DA66}" sibTransId="{465110E9-AF07-47C9-9F8C-44A458A13103}"/>
    <dgm:cxn modelId="{B83917EB-AD97-4D77-9A38-B0A742EA0AE0}" srcId="{28783204-B487-4DE0-9120-3FB0A2C26DF4}" destId="{93F308F9-5825-4775-807D-44DE3BB9792F}" srcOrd="3" destOrd="0" parTransId="{56C252DE-BF69-4B4A-9BAB-8906676A315C}" sibTransId="{31B7EDAF-DD80-402B-BFFF-548F4C9B039F}"/>
    <dgm:cxn modelId="{046960F8-9857-4C0E-8B13-B0315C068B0E}" type="presOf" srcId="{90417367-518A-459D-9454-9B42F86EC7C6}" destId="{0644E08C-8EC9-416E-B0F1-A3CEB88BF41F}" srcOrd="0" destOrd="0" presId="urn:microsoft.com/office/officeart/2005/8/layout/hProcess9"/>
    <dgm:cxn modelId="{D331CAFE-CB5D-4938-82B6-49C03FBD7BFE}" srcId="{28783204-B487-4DE0-9120-3FB0A2C26DF4}" destId="{C504E5B2-B21B-4580-995C-2BFB3934C78A}" srcOrd="5" destOrd="0" parTransId="{B5DA5958-4853-4CCC-BFC5-E20403054F58}" sibTransId="{167A3E51-BE49-4C62-A57B-5D8CFCD49E1C}"/>
    <dgm:cxn modelId="{5B02806C-966E-4085-965E-AFF71903BD14}" type="presParOf" srcId="{56AC479E-8F35-4B43-81EE-01D4CF9FBF60}" destId="{3DDDE990-4DBF-457D-8B1A-F7E90AA323C0}" srcOrd="0" destOrd="0" presId="urn:microsoft.com/office/officeart/2005/8/layout/hProcess9"/>
    <dgm:cxn modelId="{CD66D682-DBF8-43C1-8BF3-94D153398719}" type="presParOf" srcId="{56AC479E-8F35-4B43-81EE-01D4CF9FBF60}" destId="{534A94BD-AA70-4FFF-BF2B-803E66F4355A}" srcOrd="1" destOrd="0" presId="urn:microsoft.com/office/officeart/2005/8/layout/hProcess9"/>
    <dgm:cxn modelId="{4CC435CF-DC7E-4736-A5F1-3A097C850BB7}" type="presParOf" srcId="{534A94BD-AA70-4FFF-BF2B-803E66F4355A}" destId="{77802BAB-7919-4B4B-8D25-600EA566FECF}" srcOrd="0" destOrd="0" presId="urn:microsoft.com/office/officeart/2005/8/layout/hProcess9"/>
    <dgm:cxn modelId="{46BEB862-C132-4D15-A9E7-C602CB0092B3}" type="presParOf" srcId="{534A94BD-AA70-4FFF-BF2B-803E66F4355A}" destId="{D7E1C884-A816-4776-93C7-AABCA784A772}" srcOrd="1" destOrd="0" presId="urn:microsoft.com/office/officeart/2005/8/layout/hProcess9"/>
    <dgm:cxn modelId="{12B52E43-BB6A-45F5-8BE2-0185EBEC8ED2}" type="presParOf" srcId="{534A94BD-AA70-4FFF-BF2B-803E66F4355A}" destId="{6F8C953E-E3EC-4897-A0C6-9F2B9A1FD198}" srcOrd="2" destOrd="0" presId="urn:microsoft.com/office/officeart/2005/8/layout/hProcess9"/>
    <dgm:cxn modelId="{5FA0C8A8-2233-4AF4-BCCC-32F2CBB5341F}" type="presParOf" srcId="{534A94BD-AA70-4FFF-BF2B-803E66F4355A}" destId="{20203DC5-0CF7-4339-B32C-ED4B37548405}" srcOrd="3" destOrd="0" presId="urn:microsoft.com/office/officeart/2005/8/layout/hProcess9"/>
    <dgm:cxn modelId="{FECCA084-59A2-447F-87EB-5A162501C5C6}" type="presParOf" srcId="{534A94BD-AA70-4FFF-BF2B-803E66F4355A}" destId="{FBE5E21D-7AB0-4F9C-9DC8-5A92DE790A9F}" srcOrd="4" destOrd="0" presId="urn:microsoft.com/office/officeart/2005/8/layout/hProcess9"/>
    <dgm:cxn modelId="{B3560C2F-017E-4387-99E2-DBEF0CC6C6E3}" type="presParOf" srcId="{534A94BD-AA70-4FFF-BF2B-803E66F4355A}" destId="{34C0ED0A-CA42-458C-9E51-43B1875127F8}" srcOrd="5" destOrd="0" presId="urn:microsoft.com/office/officeart/2005/8/layout/hProcess9"/>
    <dgm:cxn modelId="{98A97011-8C5A-4247-B503-BC871D2BF0F5}" type="presParOf" srcId="{534A94BD-AA70-4FFF-BF2B-803E66F4355A}" destId="{F70BA7AA-9A6D-4763-AEF7-CBCE380E7AB7}" srcOrd="6" destOrd="0" presId="urn:microsoft.com/office/officeart/2005/8/layout/hProcess9"/>
    <dgm:cxn modelId="{D226111E-D9C3-4511-80A9-22E179378E5F}" type="presParOf" srcId="{534A94BD-AA70-4FFF-BF2B-803E66F4355A}" destId="{88846C77-30A6-4035-A7C6-D4D9497159A9}" srcOrd="7" destOrd="0" presId="urn:microsoft.com/office/officeart/2005/8/layout/hProcess9"/>
    <dgm:cxn modelId="{2FC8A270-2878-4A62-B1A2-FB99244682D6}" type="presParOf" srcId="{534A94BD-AA70-4FFF-BF2B-803E66F4355A}" destId="{0644E08C-8EC9-416E-B0F1-A3CEB88BF41F}" srcOrd="8" destOrd="0" presId="urn:microsoft.com/office/officeart/2005/8/layout/hProcess9"/>
    <dgm:cxn modelId="{9EA8F903-528D-4708-9CFB-D03D28028076}" type="presParOf" srcId="{534A94BD-AA70-4FFF-BF2B-803E66F4355A}" destId="{E032083A-9348-4CBC-AFF7-AF5A1139AB26}" srcOrd="9" destOrd="0" presId="urn:microsoft.com/office/officeart/2005/8/layout/hProcess9"/>
    <dgm:cxn modelId="{F7FDA194-1C24-4B9A-B168-5AF7E464C0B5}" type="presParOf" srcId="{534A94BD-AA70-4FFF-BF2B-803E66F4355A}" destId="{64BAF27F-6A49-4B2F-930E-2411C82A96A0}" srcOrd="10" destOrd="0" presId="urn:microsoft.com/office/officeart/2005/8/layout/hProcess9"/>
    <dgm:cxn modelId="{3B7FC390-8133-44D8-9C26-EF8E3E3284C4}" type="presParOf" srcId="{534A94BD-AA70-4FFF-BF2B-803E66F4355A}" destId="{65BD7871-9340-4E94-A37E-A1EED48F1C14}" srcOrd="11" destOrd="0" presId="urn:microsoft.com/office/officeart/2005/8/layout/hProcess9"/>
    <dgm:cxn modelId="{447FFB62-29AE-43D7-8FA4-44E00BD65088}" type="presParOf" srcId="{534A94BD-AA70-4FFF-BF2B-803E66F4355A}" destId="{0E8EC861-F5EC-4160-91A1-3C3C995AF551}" srcOrd="12" destOrd="0" presId="urn:microsoft.com/office/officeart/2005/8/layout/hProcess9"/>
    <dgm:cxn modelId="{D361FB74-2680-417A-9900-C00F5B59E2C3}" type="presParOf" srcId="{534A94BD-AA70-4FFF-BF2B-803E66F4355A}" destId="{0E1DB973-EF74-4719-A48A-67C79A0FEA0B}" srcOrd="13" destOrd="0" presId="urn:microsoft.com/office/officeart/2005/8/layout/hProcess9"/>
    <dgm:cxn modelId="{CBE7467E-292F-4082-82F4-AF462BC55A08}" type="presParOf" srcId="{534A94BD-AA70-4FFF-BF2B-803E66F4355A}" destId="{57C8B2FF-F97C-49EF-B02F-D0BD6F268FB8}" srcOrd="14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DE990-4DBF-457D-8B1A-F7E90AA323C0}">
      <dsp:nvSpPr>
        <dsp:cNvPr id="0" name=""/>
        <dsp:cNvSpPr/>
      </dsp:nvSpPr>
      <dsp:spPr>
        <a:xfrm>
          <a:off x="1146217" y="0"/>
          <a:ext cx="12990460" cy="3274687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02BAB-7919-4B4B-8D25-600EA566FECF}">
      <dsp:nvSpPr>
        <dsp:cNvPr id="0" name=""/>
        <dsp:cNvSpPr/>
      </dsp:nvSpPr>
      <dsp:spPr>
        <a:xfrm>
          <a:off x="3497" y="982406"/>
          <a:ext cx="1818073" cy="13098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Global Water Footprint Collection</a:t>
          </a:r>
        </a:p>
      </dsp:txBody>
      <dsp:txXfrm>
        <a:off x="67440" y="1046349"/>
        <a:ext cx="1690187" cy="1181988"/>
      </dsp:txXfrm>
    </dsp:sp>
    <dsp:sp modelId="{6F8C953E-E3EC-4897-A0C6-9F2B9A1FD198}">
      <dsp:nvSpPr>
        <dsp:cNvPr id="0" name=""/>
        <dsp:cNvSpPr/>
      </dsp:nvSpPr>
      <dsp:spPr>
        <a:xfrm>
          <a:off x="1926044" y="982406"/>
          <a:ext cx="1818073" cy="13098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Preprocessing</a:t>
          </a:r>
        </a:p>
      </dsp:txBody>
      <dsp:txXfrm>
        <a:off x="1989987" y="1046349"/>
        <a:ext cx="1690187" cy="1181988"/>
      </dsp:txXfrm>
    </dsp:sp>
    <dsp:sp modelId="{FBE5E21D-7AB0-4F9C-9DC8-5A92DE790A9F}">
      <dsp:nvSpPr>
        <dsp:cNvPr id="0" name=""/>
        <dsp:cNvSpPr/>
      </dsp:nvSpPr>
      <dsp:spPr>
        <a:xfrm>
          <a:off x="3848590" y="982406"/>
          <a:ext cx="1818073" cy="13098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Company Dataset Collection</a:t>
          </a:r>
        </a:p>
      </dsp:txBody>
      <dsp:txXfrm>
        <a:off x="3912533" y="1046349"/>
        <a:ext cx="1690187" cy="1181988"/>
      </dsp:txXfrm>
    </dsp:sp>
    <dsp:sp modelId="{F70BA7AA-9A6D-4763-AEF7-CBCE380E7AB7}">
      <dsp:nvSpPr>
        <dsp:cNvPr id="0" name=""/>
        <dsp:cNvSpPr/>
      </dsp:nvSpPr>
      <dsp:spPr>
        <a:xfrm>
          <a:off x="5771137" y="982406"/>
          <a:ext cx="1818073" cy="13098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Custom Dataset Creation</a:t>
          </a:r>
        </a:p>
      </dsp:txBody>
      <dsp:txXfrm>
        <a:off x="5835080" y="1046349"/>
        <a:ext cx="1690187" cy="1181988"/>
      </dsp:txXfrm>
    </dsp:sp>
    <dsp:sp modelId="{0644E08C-8EC9-416E-B0F1-A3CEB88BF41F}">
      <dsp:nvSpPr>
        <dsp:cNvPr id="0" name=""/>
        <dsp:cNvSpPr/>
      </dsp:nvSpPr>
      <dsp:spPr>
        <a:xfrm>
          <a:off x="7693683" y="982406"/>
          <a:ext cx="1818073" cy="13098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Sales Data Integration</a:t>
          </a:r>
        </a:p>
      </dsp:txBody>
      <dsp:txXfrm>
        <a:off x="7757626" y="1046349"/>
        <a:ext cx="1690187" cy="1181988"/>
      </dsp:txXfrm>
    </dsp:sp>
    <dsp:sp modelId="{64BAF27F-6A49-4B2F-930E-2411C82A96A0}">
      <dsp:nvSpPr>
        <dsp:cNvPr id="0" name=""/>
        <dsp:cNvSpPr/>
      </dsp:nvSpPr>
      <dsp:spPr>
        <a:xfrm>
          <a:off x="9616230" y="982406"/>
          <a:ext cx="1818073" cy="13098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Monte Carlo Stock Calculator Implementation</a:t>
          </a:r>
        </a:p>
      </dsp:txBody>
      <dsp:txXfrm>
        <a:off x="9680173" y="1046349"/>
        <a:ext cx="1690187" cy="1181988"/>
      </dsp:txXfrm>
    </dsp:sp>
    <dsp:sp modelId="{0E8EC861-F5EC-4160-91A1-3C3C995AF551}">
      <dsp:nvSpPr>
        <dsp:cNvPr id="0" name=""/>
        <dsp:cNvSpPr/>
      </dsp:nvSpPr>
      <dsp:spPr>
        <a:xfrm>
          <a:off x="11538776" y="982406"/>
          <a:ext cx="1818073" cy="13098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Factor Assignment</a:t>
          </a:r>
        </a:p>
      </dsp:txBody>
      <dsp:txXfrm>
        <a:off x="11602719" y="1046349"/>
        <a:ext cx="1690187" cy="1181988"/>
      </dsp:txXfrm>
    </dsp:sp>
    <dsp:sp modelId="{57C8B2FF-F97C-49EF-B02F-D0BD6F268FB8}">
      <dsp:nvSpPr>
        <dsp:cNvPr id="0" name=""/>
        <dsp:cNvSpPr/>
      </dsp:nvSpPr>
      <dsp:spPr>
        <a:xfrm>
          <a:off x="13461323" y="982406"/>
          <a:ext cx="1818073" cy="13098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Impact </a:t>
          </a:r>
          <a:r>
            <a:rPr lang="en-IN" sz="1800" kern="1200" dirty="0" err="1"/>
            <a:t>Modeling</a:t>
          </a:r>
          <a:endParaRPr lang="en-IN" sz="1800" kern="1200" dirty="0"/>
        </a:p>
      </dsp:txBody>
      <dsp:txXfrm>
        <a:off x="13525266" y="1046349"/>
        <a:ext cx="1690187" cy="11819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DDE990-4DBF-457D-8B1A-F7E90AA323C0}">
      <dsp:nvSpPr>
        <dsp:cNvPr id="0" name=""/>
        <dsp:cNvSpPr/>
      </dsp:nvSpPr>
      <dsp:spPr>
        <a:xfrm>
          <a:off x="1142999" y="0"/>
          <a:ext cx="12954000" cy="3198488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802BAB-7919-4B4B-8D25-600EA566FECF}">
      <dsp:nvSpPr>
        <dsp:cNvPr id="0" name=""/>
        <dsp:cNvSpPr/>
      </dsp:nvSpPr>
      <dsp:spPr>
        <a:xfrm>
          <a:off x="10255" y="959546"/>
          <a:ext cx="1809976" cy="1279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Global Water Footprint Collection</a:t>
          </a:r>
        </a:p>
      </dsp:txBody>
      <dsp:txXfrm>
        <a:off x="72710" y="1022001"/>
        <a:ext cx="1685066" cy="1154485"/>
      </dsp:txXfrm>
    </dsp:sp>
    <dsp:sp modelId="{6F8C953E-E3EC-4897-A0C6-9F2B9A1FD198}">
      <dsp:nvSpPr>
        <dsp:cNvPr id="0" name=""/>
        <dsp:cNvSpPr/>
      </dsp:nvSpPr>
      <dsp:spPr>
        <a:xfrm>
          <a:off x="1925899" y="959546"/>
          <a:ext cx="1809976" cy="1279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Preprocessing</a:t>
          </a:r>
        </a:p>
      </dsp:txBody>
      <dsp:txXfrm>
        <a:off x="1988354" y="1022001"/>
        <a:ext cx="1685066" cy="1154485"/>
      </dsp:txXfrm>
    </dsp:sp>
    <dsp:sp modelId="{FBE5E21D-7AB0-4F9C-9DC8-5A92DE790A9F}">
      <dsp:nvSpPr>
        <dsp:cNvPr id="0" name=""/>
        <dsp:cNvSpPr/>
      </dsp:nvSpPr>
      <dsp:spPr>
        <a:xfrm>
          <a:off x="3841544" y="959546"/>
          <a:ext cx="1809976" cy="1279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Company Dataset Collection</a:t>
          </a:r>
        </a:p>
      </dsp:txBody>
      <dsp:txXfrm>
        <a:off x="3903999" y="1022001"/>
        <a:ext cx="1685066" cy="1154485"/>
      </dsp:txXfrm>
    </dsp:sp>
    <dsp:sp modelId="{F70BA7AA-9A6D-4763-AEF7-CBCE380E7AB7}">
      <dsp:nvSpPr>
        <dsp:cNvPr id="0" name=""/>
        <dsp:cNvSpPr/>
      </dsp:nvSpPr>
      <dsp:spPr>
        <a:xfrm>
          <a:off x="5757189" y="959546"/>
          <a:ext cx="1809976" cy="1279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Custom Dataset Creation</a:t>
          </a:r>
        </a:p>
      </dsp:txBody>
      <dsp:txXfrm>
        <a:off x="5819644" y="1022001"/>
        <a:ext cx="1685066" cy="1154485"/>
      </dsp:txXfrm>
    </dsp:sp>
    <dsp:sp modelId="{0644E08C-8EC9-416E-B0F1-A3CEB88BF41F}">
      <dsp:nvSpPr>
        <dsp:cNvPr id="0" name=""/>
        <dsp:cNvSpPr/>
      </dsp:nvSpPr>
      <dsp:spPr>
        <a:xfrm>
          <a:off x="7672833" y="959546"/>
          <a:ext cx="1809976" cy="1279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Sales Data Integration</a:t>
          </a:r>
        </a:p>
      </dsp:txBody>
      <dsp:txXfrm>
        <a:off x="7735288" y="1022001"/>
        <a:ext cx="1685066" cy="1154485"/>
      </dsp:txXfrm>
    </dsp:sp>
    <dsp:sp modelId="{64BAF27F-6A49-4B2F-930E-2411C82A96A0}">
      <dsp:nvSpPr>
        <dsp:cNvPr id="0" name=""/>
        <dsp:cNvSpPr/>
      </dsp:nvSpPr>
      <dsp:spPr>
        <a:xfrm>
          <a:off x="9588478" y="959546"/>
          <a:ext cx="1809976" cy="1279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Monte Carlo Stock Calculator Implementation</a:t>
          </a:r>
        </a:p>
      </dsp:txBody>
      <dsp:txXfrm>
        <a:off x="9650933" y="1022001"/>
        <a:ext cx="1685066" cy="1154485"/>
      </dsp:txXfrm>
    </dsp:sp>
    <dsp:sp modelId="{0E8EC861-F5EC-4160-91A1-3C3C995AF551}">
      <dsp:nvSpPr>
        <dsp:cNvPr id="0" name=""/>
        <dsp:cNvSpPr/>
      </dsp:nvSpPr>
      <dsp:spPr>
        <a:xfrm>
          <a:off x="11504123" y="959546"/>
          <a:ext cx="1809976" cy="1279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Factor Assignment</a:t>
          </a:r>
        </a:p>
      </dsp:txBody>
      <dsp:txXfrm>
        <a:off x="11566578" y="1022001"/>
        <a:ext cx="1685066" cy="1154485"/>
      </dsp:txXfrm>
    </dsp:sp>
    <dsp:sp modelId="{57C8B2FF-F97C-49EF-B02F-D0BD6F268FB8}">
      <dsp:nvSpPr>
        <dsp:cNvPr id="0" name=""/>
        <dsp:cNvSpPr/>
      </dsp:nvSpPr>
      <dsp:spPr>
        <a:xfrm>
          <a:off x="13419768" y="959546"/>
          <a:ext cx="1809976" cy="12793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Impact </a:t>
          </a:r>
          <a:r>
            <a:rPr lang="en-IN" sz="1800" kern="1200" dirty="0" err="1"/>
            <a:t>Modeling</a:t>
          </a:r>
          <a:endParaRPr lang="en-IN" sz="1800" kern="1200" dirty="0"/>
        </a:p>
      </dsp:txBody>
      <dsp:txXfrm>
        <a:off x="13482223" y="1022001"/>
        <a:ext cx="1685066" cy="11544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europeanproceedings.com/article/10.15405/epsbs.2020.12.05.27?utm_source=chatgpt.com" TargetMode="External"/><Relationship Id="rId3" Type="http://schemas.openxmlformats.org/officeDocument/2006/relationships/image" Target="../media/image7.svg"/><Relationship Id="rId7" Type="http://schemas.openxmlformats.org/officeDocument/2006/relationships/hyperlink" Target="https://arxiv.org/abs/2309.14186?utm_source=chatgpt.com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10" Type="http://schemas.openxmlformats.org/officeDocument/2006/relationships/hyperlink" Target="https://pmc.ncbi.nlm.nih.gov/articles/PMC10233191/?utm_source=chatgpt.com" TargetMode="External"/><Relationship Id="rId4" Type="http://schemas.openxmlformats.org/officeDocument/2006/relationships/image" Target="../media/image4.png"/><Relationship Id="rId9" Type="http://schemas.openxmlformats.org/officeDocument/2006/relationships/hyperlink" Target="https://pubs.acs.org/doi/10.1021/es502162w?utm_source=chatgpt.com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3.png"/><Relationship Id="rId5" Type="http://schemas.openxmlformats.org/officeDocument/2006/relationships/image" Target="../media/image11.png"/><Relationship Id="rId10" Type="http://schemas.openxmlformats.org/officeDocument/2006/relationships/image" Target="../media/image4.png"/><Relationship Id="rId4" Type="http://schemas.openxmlformats.org/officeDocument/2006/relationships/image" Target="../media/image10.png"/><Relationship Id="rId9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2.svg"/><Relationship Id="rId7" Type="http://schemas.openxmlformats.org/officeDocument/2006/relationships/diagramLayout" Target="../diagrams/layou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1.xml"/><Relationship Id="rId5" Type="http://schemas.openxmlformats.org/officeDocument/2006/relationships/image" Target="../media/image3.png"/><Relationship Id="rId10" Type="http://schemas.microsoft.com/office/2007/relationships/diagramDrawing" Target="../diagrams/drawing1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openxmlformats.org/officeDocument/2006/relationships/image" Target="../media/image2.svg"/><Relationship Id="rId7" Type="http://schemas.openxmlformats.org/officeDocument/2006/relationships/diagramLayout" Target="../diagrams/layout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diagramData" Target="../diagrams/data2.xml"/><Relationship Id="rId5" Type="http://schemas.openxmlformats.org/officeDocument/2006/relationships/image" Target="../media/image3.png"/><Relationship Id="rId10" Type="http://schemas.microsoft.com/office/2007/relationships/diagramDrawing" Target="../diagrams/drawing2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lab.research.google.com/drive/1AXIgGRVN2gxD97-4nnFvSw8AblS3s4LF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8391" y="6172200"/>
            <a:ext cx="2192066" cy="4114800"/>
          </a:xfrm>
          <a:custGeom>
            <a:avLst/>
            <a:gdLst/>
            <a:ahLst/>
            <a:cxnLst/>
            <a:rect l="l" t="t" r="r" b="b"/>
            <a:pathLst>
              <a:path w="2192066" h="4114800">
                <a:moveTo>
                  <a:pt x="0" y="0"/>
                </a:moveTo>
                <a:lnTo>
                  <a:pt x="2192067" y="0"/>
                </a:lnTo>
                <a:lnTo>
                  <a:pt x="21920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0" y="219075"/>
            <a:ext cx="4577688" cy="226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22"/>
              </a:lnSpc>
            </a:pPr>
            <a:r>
              <a:rPr lang="en-US" sz="6812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SENIOR</a:t>
            </a:r>
          </a:p>
          <a:p>
            <a:pPr algn="l">
              <a:lnSpc>
                <a:spcPts val="5722"/>
              </a:lnSpc>
            </a:pPr>
            <a:r>
              <a:rPr lang="en-US" sz="6812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DESIGN</a:t>
            </a:r>
          </a:p>
          <a:p>
            <a:pPr algn="l">
              <a:lnSpc>
                <a:spcPts val="5722"/>
              </a:lnSpc>
            </a:pPr>
            <a:r>
              <a:rPr lang="en-US" sz="6812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146100" y="8030490"/>
            <a:ext cx="7668472" cy="6576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41"/>
              </a:lnSpc>
            </a:pPr>
            <a:r>
              <a:rPr lang="en-US" sz="3815" dirty="0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</a:rPr>
              <a:t>By Subrahmanya H and Robin Kori</a:t>
            </a:r>
          </a:p>
        </p:txBody>
      </p:sp>
      <p:sp>
        <p:nvSpPr>
          <p:cNvPr id="5" name="Freeform 5"/>
          <p:cNvSpPr/>
          <p:nvPr/>
        </p:nvSpPr>
        <p:spPr>
          <a:xfrm>
            <a:off x="13690957" y="7416680"/>
            <a:ext cx="4657719" cy="2870320"/>
          </a:xfrm>
          <a:custGeom>
            <a:avLst/>
            <a:gdLst/>
            <a:ahLst/>
            <a:cxnLst/>
            <a:rect l="l" t="t" r="r" b="b"/>
            <a:pathLst>
              <a:path w="4657719" h="2870320">
                <a:moveTo>
                  <a:pt x="0" y="0"/>
                </a:moveTo>
                <a:lnTo>
                  <a:pt x="4657719" y="0"/>
                </a:lnTo>
                <a:lnTo>
                  <a:pt x="4657719" y="2870320"/>
                </a:lnTo>
                <a:lnTo>
                  <a:pt x="0" y="28703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88844" y="2687896"/>
            <a:ext cx="12957094" cy="55417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4"/>
              </a:lnSpc>
            </a:pPr>
            <a:r>
              <a:rPr lang="en-US" sz="10207" dirty="0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WATER</a:t>
            </a:r>
          </a:p>
          <a:p>
            <a:pPr algn="ctr">
              <a:lnSpc>
                <a:spcPts val="8574"/>
              </a:lnSpc>
            </a:pPr>
            <a:r>
              <a:rPr lang="en-US" sz="10207" dirty="0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FOR SUSTAINABILITY </a:t>
            </a:r>
          </a:p>
          <a:p>
            <a:pPr algn="ctr">
              <a:lnSpc>
                <a:spcPts val="8574"/>
              </a:lnSpc>
            </a:pPr>
            <a:r>
              <a:rPr lang="en-US" sz="10207" dirty="0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AND </a:t>
            </a:r>
          </a:p>
          <a:p>
            <a:pPr algn="ctr">
              <a:lnSpc>
                <a:spcPts val="8574"/>
              </a:lnSpc>
            </a:pPr>
            <a:r>
              <a:rPr lang="en-US" sz="10207" dirty="0">
                <a:solidFill>
                  <a:srgbClr val="004AAD"/>
                </a:solidFill>
                <a:latin typeface="Archivo Black"/>
                <a:ea typeface="Archivo Black"/>
                <a:cs typeface="Archivo Black"/>
                <a:sym typeface="Archivo Black"/>
              </a:rPr>
              <a:t>STOCKS 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EAAE01CF-E2DC-0A9B-742D-1B67E1153846}"/>
              </a:ext>
            </a:extLst>
          </p:cNvPr>
          <p:cNvSpPr txBox="1"/>
          <p:nvPr/>
        </p:nvSpPr>
        <p:spPr>
          <a:xfrm>
            <a:off x="4933155" y="1927668"/>
            <a:ext cx="7668472" cy="613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41"/>
              </a:lnSpc>
            </a:pPr>
            <a:r>
              <a:rPr lang="en-US" sz="3815" dirty="0">
                <a:solidFill>
                  <a:srgbClr val="004AAD"/>
                </a:solidFill>
                <a:latin typeface="Lato"/>
                <a:ea typeface="Lato"/>
                <a:cs typeface="Lato"/>
                <a:sym typeface="Lato"/>
              </a:rPr>
              <a:t>TITLE: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68391" y="6172200"/>
            <a:ext cx="2192066" cy="4114800"/>
          </a:xfrm>
          <a:custGeom>
            <a:avLst/>
            <a:gdLst/>
            <a:ahLst/>
            <a:cxnLst/>
            <a:rect l="l" t="t" r="r" b="b"/>
            <a:pathLst>
              <a:path w="2192066" h="4114800">
                <a:moveTo>
                  <a:pt x="0" y="0"/>
                </a:moveTo>
                <a:lnTo>
                  <a:pt x="2192067" y="0"/>
                </a:lnTo>
                <a:lnTo>
                  <a:pt x="219206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635854" y="7948498"/>
            <a:ext cx="3697801" cy="2278770"/>
          </a:xfrm>
          <a:custGeom>
            <a:avLst/>
            <a:gdLst/>
            <a:ahLst/>
            <a:cxnLst/>
            <a:rect l="l" t="t" r="r" b="b"/>
            <a:pathLst>
              <a:path w="3697801" h="2278770">
                <a:moveTo>
                  <a:pt x="0" y="0"/>
                </a:moveTo>
                <a:lnTo>
                  <a:pt x="3697801" y="0"/>
                </a:lnTo>
                <a:lnTo>
                  <a:pt x="3697801" y="2278770"/>
                </a:lnTo>
                <a:lnTo>
                  <a:pt x="0" y="227877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990600" y="1342883"/>
            <a:ext cx="7790718" cy="7601233"/>
            <a:chOff x="0" y="0"/>
            <a:chExt cx="1016401" cy="99168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16401" cy="991680"/>
            </a:xfrm>
            <a:custGeom>
              <a:avLst/>
              <a:gdLst/>
              <a:ahLst/>
              <a:cxnLst/>
              <a:rect l="l" t="t" r="r" b="b"/>
              <a:pathLst>
                <a:path w="1016401" h="991680">
                  <a:moveTo>
                    <a:pt x="508201" y="0"/>
                  </a:moveTo>
                  <a:cubicBezTo>
                    <a:pt x="227529" y="0"/>
                    <a:pt x="0" y="221995"/>
                    <a:pt x="0" y="495840"/>
                  </a:cubicBezTo>
                  <a:cubicBezTo>
                    <a:pt x="0" y="769685"/>
                    <a:pt x="227529" y="991680"/>
                    <a:pt x="508201" y="991680"/>
                  </a:cubicBezTo>
                  <a:cubicBezTo>
                    <a:pt x="788872" y="991680"/>
                    <a:pt x="1016401" y="769685"/>
                    <a:pt x="1016401" y="495840"/>
                  </a:cubicBezTo>
                  <a:cubicBezTo>
                    <a:pt x="1016401" y="221995"/>
                    <a:pt x="788872" y="0"/>
                    <a:pt x="508201" y="0"/>
                  </a:cubicBezTo>
                  <a:close/>
                </a:path>
              </a:pathLst>
            </a:custGeom>
            <a:blipFill>
              <a:blip r:embed="rId5"/>
              <a:stretch>
                <a:fillRect l="-54938" t="-1549" r="-54753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427040" y="7505700"/>
            <a:ext cx="6741811" cy="2321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sz="266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Encourages protection of marine ecosystems through sustainable practices that reduce pollution, conserve biodiversity, and support ocean health. </a:t>
            </a:r>
            <a:r>
              <a:rPr lang="en-US" sz="266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SDG 14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42371" y="341074"/>
            <a:ext cx="6922312" cy="2456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8"/>
              </a:lnSpc>
            </a:pPr>
            <a:r>
              <a:rPr lang="en-US" sz="283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Focuses on ensuring access to safe water and sanitation while promoting efficient water use and protecting freshwater resources.</a:t>
            </a:r>
          </a:p>
          <a:p>
            <a:pPr algn="ctr">
              <a:lnSpc>
                <a:spcPts val="3968"/>
              </a:lnSpc>
            </a:pPr>
            <a:r>
              <a:rPr lang="en-US" sz="283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  <a:r>
              <a:rPr lang="en-US" sz="283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SDG 6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07129" y="3732767"/>
            <a:ext cx="7727211" cy="2576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0"/>
              </a:lnSpc>
            </a:pPr>
            <a:r>
              <a:rPr lang="en-US" sz="2964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Advocates for inclusive economic development by fostering innovation, sustainable livelihoods, and fair employment opportunities. </a:t>
            </a:r>
          </a:p>
          <a:p>
            <a:pPr algn="ctr">
              <a:lnSpc>
                <a:spcPts val="4150"/>
              </a:lnSpc>
            </a:pPr>
            <a:r>
              <a:rPr lang="en-US" sz="2964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SDG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8391" y="436393"/>
            <a:ext cx="11763117" cy="147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Introduction</a:t>
            </a:r>
          </a:p>
        </p:txBody>
      </p:sp>
      <p:sp>
        <p:nvSpPr>
          <p:cNvPr id="3" name="Freeform 3"/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5400000">
            <a:off x="546359" y="-546359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9263" y="1931646"/>
            <a:ext cx="17995709" cy="7226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 are working on the project “Water for Sustainability and Stocks”, focusing on the intersection of finance and sustainability.</a:t>
            </a:r>
          </a:p>
          <a:p>
            <a:pPr algn="l">
              <a:lnSpc>
                <a:spcPts val="3847"/>
              </a:lnSpc>
            </a:pPr>
            <a:endParaRPr lang="en-US" sz="274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847"/>
              </a:lnSpc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project integrates three Sustainable Development Goals (SDGs):</a:t>
            </a:r>
          </a:p>
          <a:p>
            <a:pPr marL="593353" lvl="1" indent="-296677" algn="l">
              <a:lnSpc>
                <a:spcPts val="3847"/>
              </a:lnSpc>
              <a:buFont typeface="Arial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SDG 6: Clean Water and Sanitation</a:t>
            </a:r>
          </a:p>
          <a:p>
            <a:pPr marL="593353" lvl="1" indent="-296677" algn="l">
              <a:lnSpc>
                <a:spcPts val="3847"/>
              </a:lnSpc>
              <a:buFont typeface="Arial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SDG 8: Decent Work and Economic Growth</a:t>
            </a:r>
          </a:p>
          <a:p>
            <a:pPr marL="593353" lvl="1" indent="-296677" algn="l">
              <a:lnSpc>
                <a:spcPts val="3847"/>
              </a:lnSpc>
              <a:buFont typeface="Arial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SDG 14: Life Below Water</a:t>
            </a:r>
          </a:p>
          <a:p>
            <a:pPr algn="l">
              <a:lnSpc>
                <a:spcPts val="3847"/>
              </a:lnSpc>
            </a:pPr>
            <a:endParaRPr lang="en-US" sz="274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847"/>
              </a:lnSpc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Our aim is to:</a:t>
            </a:r>
          </a:p>
          <a:p>
            <a:pPr marL="593353" lvl="1" indent="-296677" algn="l">
              <a:lnSpc>
                <a:spcPts val="3847"/>
              </a:lnSpc>
              <a:buFont typeface="Arial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Analyze water footprints across countries and companies.</a:t>
            </a:r>
          </a:p>
          <a:p>
            <a:pPr marL="593353" lvl="1" indent="-296677" algn="l">
              <a:lnSpc>
                <a:spcPts val="3847"/>
              </a:lnSpc>
              <a:buFont typeface="Arial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Study company-level water consumption and its role in sustainability.</a:t>
            </a:r>
          </a:p>
          <a:p>
            <a:pPr marL="593353" lvl="1" indent="-296677" algn="l">
              <a:lnSpc>
                <a:spcPts val="3847"/>
              </a:lnSpc>
              <a:buFont typeface="Arial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Develop a sustainable stock manager that links water usage efficiency with stock performance.</a:t>
            </a:r>
          </a:p>
          <a:p>
            <a:pPr algn="l">
              <a:lnSpc>
                <a:spcPts val="3847"/>
              </a:lnSpc>
            </a:pPr>
            <a:endParaRPr lang="en-US" sz="274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847"/>
              </a:lnSpc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By combining environmental data with financial models, we demonstrate how sustainability directly influences economic growth and stock markets.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9473C0D7-891F-12A2-792F-06BE2EBEA29D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8B80610A-DFAB-D828-2617-3484D50CC1A4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D7D5F3C-970C-6EEA-A519-70A4DF68E77E}"/>
              </a:ext>
            </a:extLst>
          </p:cNvPr>
          <p:cNvSpPr/>
          <p:nvPr/>
        </p:nvSpPr>
        <p:spPr>
          <a:xfrm rot="5400000">
            <a:off x="546359" y="-546359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0377D936-549D-CFE7-7145-A522AB61F3BB}"/>
              </a:ext>
            </a:extLst>
          </p:cNvPr>
          <p:cNvSpPr txBox="1"/>
          <p:nvPr/>
        </p:nvSpPr>
        <p:spPr>
          <a:xfrm>
            <a:off x="268391" y="436393"/>
            <a:ext cx="11763117" cy="1283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5AC7EF-88D9-786A-0A62-A535DF0380FE}"/>
              </a:ext>
            </a:extLst>
          </p:cNvPr>
          <p:cNvSpPr txBox="1"/>
          <p:nvPr/>
        </p:nvSpPr>
        <p:spPr>
          <a:xfrm>
            <a:off x="111368" y="2086420"/>
            <a:ext cx="18065264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847"/>
              </a:lnSpc>
            </a:pPr>
            <a:r>
              <a:rPr lang="en-US" sz="3200" dirty="0"/>
              <a:t>We are have created the project with unified framework that </a:t>
            </a:r>
            <a:r>
              <a:rPr lang="en-US" sz="3200" b="1" dirty="0"/>
              <a:t>integrates water sustainability indices (WSI)</a:t>
            </a:r>
            <a:r>
              <a:rPr lang="en-US" sz="3200" dirty="0"/>
              <a:t> with </a:t>
            </a:r>
            <a:r>
              <a:rPr lang="en-US" sz="3200" b="1" dirty="0"/>
              <a:t>stock performance analysis</a:t>
            </a:r>
            <a:r>
              <a:rPr lang="en-US" sz="3200" dirty="0"/>
              <a:t> to address </a:t>
            </a:r>
            <a:r>
              <a:rPr lang="en-US" sz="3200" b="1" dirty="0"/>
              <a:t>ecological impact, clean water availability, and economic growth</a:t>
            </a:r>
            <a:r>
              <a:rPr lang="en-US" sz="3200" dirty="0"/>
              <a:t> simultaneously. This project aims to bridge this gap by creating a model that aligns with </a:t>
            </a:r>
            <a:r>
              <a:rPr lang="en-US" sz="3200" b="1" dirty="0"/>
              <a:t>SDG 6, SDG 8, and SDG 14</a:t>
            </a:r>
            <a:r>
              <a:rPr lang="en-US" sz="3200" dirty="0"/>
              <a:t>, enabling </a:t>
            </a:r>
            <a:r>
              <a:rPr lang="en-US" sz="3200" b="1" dirty="0"/>
              <a:t>sustainable decision-making for industries, investors, and policymakers</a:t>
            </a:r>
            <a:r>
              <a:rPr lang="en-US" sz="3200" dirty="0"/>
              <a:t>.</a:t>
            </a:r>
          </a:p>
        </p:txBody>
      </p:sp>
      <p:sp>
        <p:nvSpPr>
          <p:cNvPr id="11" name="TextBox 6">
            <a:extLst>
              <a:ext uri="{FF2B5EF4-FFF2-40B4-BE49-F238E27FC236}">
                <a16:creationId xmlns:a16="http://schemas.microsoft.com/office/drawing/2014/main" id="{A9DA7B3F-CF6F-484A-9AD9-46D994E686E0}"/>
              </a:ext>
            </a:extLst>
          </p:cNvPr>
          <p:cNvSpPr txBox="1"/>
          <p:nvPr/>
        </p:nvSpPr>
        <p:spPr>
          <a:xfrm>
            <a:off x="246268" y="5143500"/>
            <a:ext cx="17995709" cy="3867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Current stock market models do not integrate sustainability factors like water footprint into company evaluation.</a:t>
            </a:r>
          </a:p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endParaRPr lang="en-US" sz="274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Overuse of freshwater resources for industrial and beverage production threatens both ecosystems and human needs.</a:t>
            </a:r>
          </a:p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endParaRPr lang="en-US" sz="274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There is a lack of unified frameworks that link water sustainability, economic growth, and stock performance in line with SDG 6, SDG 8, and SDG 14.</a:t>
            </a:r>
          </a:p>
        </p:txBody>
      </p:sp>
      <p:sp>
        <p:nvSpPr>
          <p:cNvPr id="14" name="TextBox 6">
            <a:extLst>
              <a:ext uri="{FF2B5EF4-FFF2-40B4-BE49-F238E27FC236}">
                <a16:creationId xmlns:a16="http://schemas.microsoft.com/office/drawing/2014/main" id="{A5B73A15-E68E-4873-4F67-D9B59BBBFC43}"/>
              </a:ext>
            </a:extLst>
          </p:cNvPr>
          <p:cNvSpPr txBox="1"/>
          <p:nvPr/>
        </p:nvSpPr>
        <p:spPr>
          <a:xfrm>
            <a:off x="268391" y="4533211"/>
            <a:ext cx="17995709" cy="456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7"/>
              </a:lnSpc>
            </a:pPr>
            <a:r>
              <a:rPr lang="en-US" sz="2748" b="1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Covers below Points</a:t>
            </a:r>
          </a:p>
        </p:txBody>
      </p:sp>
    </p:spTree>
    <p:extLst>
      <p:ext uri="{BB962C8B-B14F-4D97-AF65-F5344CB8AC3E}">
        <p14:creationId xmlns:p14="http://schemas.microsoft.com/office/powerpoint/2010/main" val="340165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8690" y="8835736"/>
            <a:ext cx="7315200" cy="1436439"/>
          </a:xfrm>
          <a:custGeom>
            <a:avLst/>
            <a:gdLst/>
            <a:ahLst/>
            <a:cxnLst/>
            <a:rect l="l" t="t" r="r" b="b"/>
            <a:pathLst>
              <a:path w="7315200" h="1436439">
                <a:moveTo>
                  <a:pt x="0" y="0"/>
                </a:moveTo>
                <a:lnTo>
                  <a:pt x="7315200" y="0"/>
                </a:lnTo>
                <a:lnTo>
                  <a:pt x="7315200" y="1436439"/>
                </a:lnTo>
                <a:lnTo>
                  <a:pt x="0" y="143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7296510" y="8835736"/>
            <a:ext cx="7315200" cy="1436439"/>
          </a:xfrm>
          <a:custGeom>
            <a:avLst/>
            <a:gdLst/>
            <a:ahLst/>
            <a:cxnLst/>
            <a:rect l="l" t="t" r="r" b="b"/>
            <a:pathLst>
              <a:path w="7315200" h="1436439">
                <a:moveTo>
                  <a:pt x="0" y="0"/>
                </a:moveTo>
                <a:lnTo>
                  <a:pt x="7315200" y="0"/>
                </a:lnTo>
                <a:lnTo>
                  <a:pt x="7315200" y="1436439"/>
                </a:lnTo>
                <a:lnTo>
                  <a:pt x="0" y="143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639800" y="8827133"/>
            <a:ext cx="4648200" cy="1436439"/>
          </a:xfrm>
          <a:custGeom>
            <a:avLst/>
            <a:gdLst/>
            <a:ahLst/>
            <a:cxnLst/>
            <a:rect l="l" t="t" r="r" b="b"/>
            <a:pathLst>
              <a:path w="7315200" h="1436439">
                <a:moveTo>
                  <a:pt x="0" y="0"/>
                </a:moveTo>
                <a:lnTo>
                  <a:pt x="7315200" y="0"/>
                </a:lnTo>
                <a:lnTo>
                  <a:pt x="7315200" y="1436439"/>
                </a:lnTo>
                <a:lnTo>
                  <a:pt x="0" y="143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68391" y="436393"/>
            <a:ext cx="11763117" cy="147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Literature Survey</a:t>
            </a:r>
          </a:p>
        </p:txBody>
      </p:sp>
      <p:sp>
        <p:nvSpPr>
          <p:cNvPr id="8" name="Freeform 8"/>
          <p:cNvSpPr/>
          <p:nvPr/>
        </p:nvSpPr>
        <p:spPr>
          <a:xfrm rot="5400000">
            <a:off x="546359" y="-546359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C8B9F56-4DF1-18A7-7257-BCC05E9616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6466044"/>
              </p:ext>
            </p:extLst>
          </p:nvPr>
        </p:nvGraphicFramePr>
        <p:xfrm>
          <a:off x="-18690" y="1723103"/>
          <a:ext cx="18306690" cy="8540465"/>
        </p:xfrm>
        <a:graphic>
          <a:graphicData uri="http://schemas.openxmlformats.org/drawingml/2006/table">
            <a:tbl>
              <a:tblPr/>
              <a:tblGrid>
                <a:gridCol w="1155041">
                  <a:extLst>
                    <a:ext uri="{9D8B030D-6E8A-4147-A177-3AD203B41FA5}">
                      <a16:colId xmlns:a16="http://schemas.microsoft.com/office/drawing/2014/main" val="2893416609"/>
                    </a:ext>
                  </a:extLst>
                </a:gridCol>
                <a:gridCol w="7814509">
                  <a:extLst>
                    <a:ext uri="{9D8B030D-6E8A-4147-A177-3AD203B41FA5}">
                      <a16:colId xmlns:a16="http://schemas.microsoft.com/office/drawing/2014/main" val="3355758297"/>
                    </a:ext>
                  </a:extLst>
                </a:gridCol>
                <a:gridCol w="3112380">
                  <a:extLst>
                    <a:ext uri="{9D8B030D-6E8A-4147-A177-3AD203B41FA5}">
                      <a16:colId xmlns:a16="http://schemas.microsoft.com/office/drawing/2014/main" val="4023115485"/>
                    </a:ext>
                  </a:extLst>
                </a:gridCol>
                <a:gridCol w="3112380">
                  <a:extLst>
                    <a:ext uri="{9D8B030D-6E8A-4147-A177-3AD203B41FA5}">
                      <a16:colId xmlns:a16="http://schemas.microsoft.com/office/drawing/2014/main" val="4186023411"/>
                    </a:ext>
                  </a:extLst>
                </a:gridCol>
                <a:gridCol w="3112380">
                  <a:extLst>
                    <a:ext uri="{9D8B030D-6E8A-4147-A177-3AD203B41FA5}">
                      <a16:colId xmlns:a16="http://schemas.microsoft.com/office/drawing/2014/main" val="3849350485"/>
                    </a:ext>
                  </a:extLst>
                </a:gridCol>
              </a:tblGrid>
              <a:tr h="6688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SL No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AA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Paper Title &amp; Authors (Year)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AA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Summary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AA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>
                          <a:effectLst/>
                        </a:rPr>
                        <a:t>SDG Impact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AAE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>
                          <a:effectLst/>
                        </a:rPr>
                        <a:t>Limitations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AA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429752"/>
                  </a:ext>
                </a:extLst>
              </a:tr>
              <a:tr h="162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effectLst/>
                        </a:rPr>
                        <a:t>1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600" b="0" i="1">
                          <a:solidFill>
                            <a:srgbClr val="000000"/>
                          </a:solidFill>
                          <a:effectLst/>
                        </a:rPr>
                        <a:t>Value-transforming Financial, Carbon and Biodiversity Footprint Accounting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</a:rPr>
                        <a:t> — S. El Geneidy et al. (2023) (</a:t>
                      </a:r>
                      <a:r>
                        <a:rPr lang="en-US" sz="1600" b="0" i="0" u="sng">
                          <a:solidFill>
                            <a:srgbClr val="1A62FF"/>
                          </a:solidFill>
                          <a:effectLst/>
                          <a:hlinkClick r:id="rId7"/>
                        </a:rPr>
                        <a:t>arXiv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sz="1600">
                        <a:effectLst/>
                      </a:endParaRP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Proposes a framework to integrate financial accounting with environmental footprints—including water, carbon, and biodiversity—demonstrated using a university “living lab.”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SDG 6, SDG 15, SDG 13 — Presents a holistic environmental-financial accounting model.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Conceptual framework; limited real-world corporate application.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9666461"/>
                  </a:ext>
                </a:extLst>
              </a:tr>
              <a:tr h="162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effectLst/>
                        </a:rPr>
                        <a:t>2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FA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600" b="0" i="1" dirty="0">
                          <a:solidFill>
                            <a:srgbClr val="000000"/>
                          </a:solidFill>
                          <a:effectLst/>
                        </a:rPr>
                        <a:t>Water Disclosure And Financial Performance: The Case Of CDP Water A-List Companies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</a:rPr>
                        <a:t> — </a:t>
                      </a:r>
                      <a:r>
                        <a:rPr lang="en-US" sz="1600" b="0" i="0" dirty="0" err="1">
                          <a:solidFill>
                            <a:srgbClr val="000000"/>
                          </a:solidFill>
                          <a:effectLst/>
                        </a:rPr>
                        <a:t>Inaliah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</a:rPr>
                        <a:t> Mohd Ali et al. (2020) (</a:t>
                      </a:r>
                      <a:r>
                        <a:rPr lang="en-US" sz="1600" b="0" i="0" u="sng" dirty="0">
                          <a:solidFill>
                            <a:srgbClr val="1A62FF"/>
                          </a:solidFill>
                          <a:effectLst/>
                          <a:hlinkClick r:id="rId8"/>
                        </a:rPr>
                        <a:t>European Proceedings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effectLst/>
                      </a:endParaRP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FA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</a:rPr>
                        <a:t>Examines CDP Water A-List companies and finds a positive correlation between water disclosure practices and increased 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</a:rPr>
                        <a:t>earnings per share (EPS)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</a:rPr>
                        <a:t> and 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</a:rPr>
                        <a:t>share prices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</a:rPr>
                        <a:t>.</a:t>
                      </a:r>
                      <a:endParaRPr lang="en-US" sz="1600">
                        <a:effectLst/>
                      </a:endParaRP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SDG 6, SDG 8 — Links water transparency to financial outcomes in companies.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Sample limited to CDP-listed firms; causality not established.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3470854"/>
                  </a:ext>
                </a:extLst>
              </a:tr>
              <a:tr h="162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effectLst/>
                        </a:rPr>
                        <a:t>3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600" b="0" i="1" dirty="0">
                          <a:solidFill>
                            <a:srgbClr val="000000"/>
                          </a:solidFill>
                          <a:effectLst/>
                        </a:rPr>
                        <a:t>Industrial Water Footprint Assessment: Methodologies in Need of Improvement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</a:rPr>
                        <a:t> — Boulay, Pfister et al. (2014) (</a:t>
                      </a:r>
                      <a:r>
                        <a:rPr lang="en-US" sz="1600" b="0" i="0" u="sng" dirty="0">
                          <a:solidFill>
                            <a:srgbClr val="1A62FF"/>
                          </a:solidFill>
                          <a:effectLst/>
                          <a:hlinkClick r:id="rId9"/>
                        </a:rPr>
                        <a:t>ACS Publications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effectLst/>
                      </a:endParaRP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Reviews flaws in water footprint methodologies when applied to industrial sectors, especially highlighting the need to improve blue/grey water accounting and supply-chain coverage.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SDG 6 — Strengthens methodological rigor in industrial water use assessments.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Academic/approach-focused; lacks real-world datasets.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713605"/>
                  </a:ext>
                </a:extLst>
              </a:tr>
              <a:tr h="13603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effectLst/>
                        </a:rPr>
                        <a:t>4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FA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600" b="0" i="1" dirty="0">
                          <a:solidFill>
                            <a:srgbClr val="000000"/>
                          </a:solidFill>
                          <a:effectLst/>
                        </a:rPr>
                        <a:t>Cost and Water Footprint Trade-off in a Supply Chain Optimization Model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</a:rPr>
                        <a:t> — Dennis E Cruz &amp; Raymond R Tan (2023) (</a:t>
                      </a:r>
                      <a:r>
                        <a:rPr lang="en-US" sz="1600" b="0" i="0" u="sng" dirty="0">
                          <a:solidFill>
                            <a:srgbClr val="1A62FF"/>
                          </a:solidFill>
                          <a:effectLst/>
                          <a:hlinkClick r:id="rId10"/>
                        </a:rPr>
                        <a:t>PMC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</a:rPr>
                        <a:t>)</a:t>
                      </a:r>
                      <a:endParaRPr lang="en-US" sz="1600" dirty="0">
                        <a:effectLst/>
                      </a:endParaRP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FA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</a:rPr>
                        <a:t>Develops a bi-objective optimization model to minimize both 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</a:rPr>
                        <a:t>cost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</a:rPr>
                        <a:t> and </a:t>
                      </a: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</a:rPr>
                        <a:t>water footprint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</a:rPr>
                        <a:t> in supplier selection for water-intensive industries.</a:t>
                      </a:r>
                      <a:endParaRPr lang="en-US" sz="1600">
                        <a:effectLst/>
                      </a:endParaRP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SDG 6, SDG 8 – Integrates sustainable water use in supply chains with economic decision-making.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FA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Context-specific modeling; not tested with real corporate data.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9385639"/>
                  </a:ext>
                </a:extLst>
              </a:tr>
              <a:tr h="16278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200" dirty="0">
                          <a:effectLst/>
                        </a:rPr>
                        <a:t>5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i="1" dirty="0">
                          <a:effectLst/>
                        </a:rPr>
                        <a:t>National Water Footprint Accounts: The Green, Blue and Grey Water Footprint of Production and Consumption —Hoekstra, A.Y. &amp; Mekonnen, M.M. (2011, expanded 2012 PNAS)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Proposed the first global water footprint framework, distinguishing green, blue, and grey water. Quantified national footprints and showed how trade shifts water use across borders.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</a:rPr>
                        <a:t>SDG 6 (Clean Water &amp; Sanitation), SDG 12 (Responsible Consumption &amp; Production), SDG 14 (Life Below Water)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effectLst/>
                        </a:rPr>
                        <a:t>Early methodology—did not fully account for regional water scarcity, sustainability thresholds, or uncertainty. Strong on global/national scale but less precise at company.</a:t>
                      </a:r>
                    </a:p>
                  </a:txBody>
                  <a:tcPr marL="20666" marR="20666" marT="10333" marB="10333" anchor="ctr">
                    <a:lnL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E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5492547"/>
                  </a:ext>
                </a:extLst>
              </a:tr>
            </a:tbl>
          </a:graphicData>
        </a:graphic>
      </p:graphicFrame>
      <p:sp>
        <p:nvSpPr>
          <p:cNvPr id="10" name="Rectangle 1">
            <a:hlinkClick r:id="rId10"/>
            <a:extLst>
              <a:ext uri="{FF2B5EF4-FFF2-40B4-BE49-F238E27FC236}">
                <a16:creationId xmlns:a16="http://schemas.microsoft.com/office/drawing/2014/main" id="{0601EC72-6264-6512-4936-A618D4AE9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518" y="1714499"/>
            <a:ext cx="10039603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" y="2023667"/>
            <a:ext cx="5562600" cy="2982071"/>
          </a:xfrm>
          <a:custGeom>
            <a:avLst/>
            <a:gdLst/>
            <a:ahLst/>
            <a:cxnLst/>
            <a:rect l="l" t="t" r="r" b="b"/>
            <a:pathLst>
              <a:path w="5706873" h="2959990">
                <a:moveTo>
                  <a:pt x="0" y="0"/>
                </a:moveTo>
                <a:lnTo>
                  <a:pt x="5706873" y="0"/>
                </a:lnTo>
                <a:lnTo>
                  <a:pt x="5706873" y="2959991"/>
                </a:lnTo>
                <a:lnTo>
                  <a:pt x="0" y="29599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596" b="-7614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062884" y="1888812"/>
            <a:ext cx="6014745" cy="3273863"/>
          </a:xfrm>
          <a:custGeom>
            <a:avLst/>
            <a:gdLst/>
            <a:ahLst/>
            <a:cxnLst/>
            <a:rect l="l" t="t" r="r" b="b"/>
            <a:pathLst>
              <a:path w="6014745" h="3273863">
                <a:moveTo>
                  <a:pt x="0" y="0"/>
                </a:moveTo>
                <a:lnTo>
                  <a:pt x="6014745" y="0"/>
                </a:lnTo>
                <a:lnTo>
                  <a:pt x="6014745" y="3273863"/>
                </a:lnTo>
                <a:lnTo>
                  <a:pt x="0" y="32738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6" r="-2386"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031508" y="1907543"/>
            <a:ext cx="6210371" cy="3119833"/>
          </a:xfrm>
          <a:custGeom>
            <a:avLst/>
            <a:gdLst/>
            <a:ahLst/>
            <a:cxnLst/>
            <a:rect l="l" t="t" r="r" b="b"/>
            <a:pathLst>
              <a:path w="6210371" h="3119833">
                <a:moveTo>
                  <a:pt x="0" y="0"/>
                </a:moveTo>
                <a:lnTo>
                  <a:pt x="6210371" y="0"/>
                </a:lnTo>
                <a:lnTo>
                  <a:pt x="6210371" y="3119833"/>
                </a:lnTo>
                <a:lnTo>
                  <a:pt x="0" y="31198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5" name="Freeform 5"/>
          <p:cNvSpPr/>
          <p:nvPr/>
        </p:nvSpPr>
        <p:spPr>
          <a:xfrm>
            <a:off x="0" y="5479014"/>
            <a:ext cx="5706873" cy="3779286"/>
          </a:xfrm>
          <a:custGeom>
            <a:avLst/>
            <a:gdLst/>
            <a:ahLst/>
            <a:cxnLst/>
            <a:rect l="l" t="t" r="r" b="b"/>
            <a:pathLst>
              <a:path w="5706873" h="3779286">
                <a:moveTo>
                  <a:pt x="0" y="0"/>
                </a:moveTo>
                <a:lnTo>
                  <a:pt x="5706873" y="0"/>
                </a:lnTo>
                <a:lnTo>
                  <a:pt x="5706873" y="3779286"/>
                </a:lnTo>
                <a:lnTo>
                  <a:pt x="0" y="37792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062884" y="5479014"/>
            <a:ext cx="6193367" cy="3779286"/>
          </a:xfrm>
          <a:custGeom>
            <a:avLst/>
            <a:gdLst/>
            <a:ahLst/>
            <a:cxnLst/>
            <a:rect l="l" t="t" r="r" b="b"/>
            <a:pathLst>
              <a:path w="6193367" h="3779286">
                <a:moveTo>
                  <a:pt x="0" y="0"/>
                </a:moveTo>
                <a:lnTo>
                  <a:pt x="6193366" y="0"/>
                </a:lnTo>
                <a:lnTo>
                  <a:pt x="6193366" y="3779286"/>
                </a:lnTo>
                <a:lnTo>
                  <a:pt x="0" y="377928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608675" y="5479014"/>
            <a:ext cx="5679325" cy="3567415"/>
          </a:xfrm>
          <a:custGeom>
            <a:avLst/>
            <a:gdLst/>
            <a:ahLst/>
            <a:cxnLst/>
            <a:rect l="l" t="t" r="r" b="b"/>
            <a:pathLst>
              <a:path w="5679325" h="3567415">
                <a:moveTo>
                  <a:pt x="0" y="0"/>
                </a:moveTo>
                <a:lnTo>
                  <a:pt x="5679325" y="0"/>
                </a:lnTo>
                <a:lnTo>
                  <a:pt x="5679325" y="3567415"/>
                </a:lnTo>
                <a:lnTo>
                  <a:pt x="0" y="35674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5400000">
            <a:off x="546359" y="-546359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68391" y="436393"/>
            <a:ext cx="11763117" cy="147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Problem Formulation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8">
            <a:extLst>
              <a:ext uri="{FF2B5EF4-FFF2-40B4-BE49-F238E27FC236}">
                <a16:creationId xmlns:a16="http://schemas.microsoft.com/office/drawing/2014/main" id="{D52BC44A-047E-D18C-3A1E-F870D6BEE4F2}"/>
              </a:ext>
            </a:extLst>
          </p:cNvPr>
          <p:cNvSpPr/>
          <p:nvPr/>
        </p:nvSpPr>
        <p:spPr>
          <a:xfrm rot="5400000">
            <a:off x="546359" y="-546359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9">
            <a:extLst>
              <a:ext uri="{FF2B5EF4-FFF2-40B4-BE49-F238E27FC236}">
                <a16:creationId xmlns:a16="http://schemas.microsoft.com/office/drawing/2014/main" id="{9E239D21-C438-815A-51E2-E8BC7FE23FC0}"/>
              </a:ext>
            </a:extLst>
          </p:cNvPr>
          <p:cNvSpPr txBox="1"/>
          <p:nvPr/>
        </p:nvSpPr>
        <p:spPr>
          <a:xfrm>
            <a:off x="268391" y="436393"/>
            <a:ext cx="11763117" cy="1283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Motivation</a:t>
            </a:r>
          </a:p>
        </p:txBody>
      </p:sp>
      <p:sp>
        <p:nvSpPr>
          <p:cNvPr id="4" name="Freeform 10">
            <a:extLst>
              <a:ext uri="{FF2B5EF4-FFF2-40B4-BE49-F238E27FC236}">
                <a16:creationId xmlns:a16="http://schemas.microsoft.com/office/drawing/2014/main" id="{2BC445BF-569A-6D85-0DC7-AB67E4B775AE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11">
            <a:extLst>
              <a:ext uri="{FF2B5EF4-FFF2-40B4-BE49-F238E27FC236}">
                <a16:creationId xmlns:a16="http://schemas.microsoft.com/office/drawing/2014/main" id="{FE58AB23-0C60-CB3A-BBD4-AC534185312B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A268B642-0A4B-B789-445A-2C0C7ACAB02B}"/>
              </a:ext>
            </a:extLst>
          </p:cNvPr>
          <p:cNvSpPr txBox="1"/>
          <p:nvPr/>
        </p:nvSpPr>
        <p:spPr>
          <a:xfrm>
            <a:off x="146145" y="2090330"/>
            <a:ext cx="17995709" cy="532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Water as a critical resource: Freshwater scarcity is rising, and industries must align with sustainable practices.</a:t>
            </a:r>
          </a:p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endParaRPr lang="en-US" sz="274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Bridging sustainability and finance: Investors increasingly demand ESG-linked (Environmental, Social, Governance) insights, but water use is often overlooked.</a:t>
            </a:r>
          </a:p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endParaRPr lang="en-US" sz="2748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SDG integration: Linking SDG 6, SDG 8, and SDG 14 provides a holistic approach to sustainability and economic growth.</a:t>
            </a:r>
          </a:p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 algn="l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748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Practical impact: A sustainability-driven stock manager can guide industries, investors, and policymakers toward more responsible decisions.</a:t>
            </a:r>
          </a:p>
        </p:txBody>
      </p:sp>
    </p:spTree>
    <p:extLst>
      <p:ext uri="{BB962C8B-B14F-4D97-AF65-F5344CB8AC3E}">
        <p14:creationId xmlns:p14="http://schemas.microsoft.com/office/powerpoint/2010/main" val="20908374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8391" y="436393"/>
            <a:ext cx="11763117" cy="147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Objectives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546359" y="-546359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11368" y="3007613"/>
            <a:ext cx="18176632" cy="5080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Promote sustainable practices aligned with SDG 14 (Life Below Water), SDG 6 (Clean Water and Sanitation), and SDG 8 (Decent Work and Economic Growth).</a:t>
            </a:r>
          </a:p>
          <a:p>
            <a:pPr algn="l">
              <a:lnSpc>
                <a:spcPts val="5040"/>
              </a:lnSpc>
            </a:pPr>
            <a:endParaRPr lang="en-US" sz="36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Develop scalable models that address water conservation, marine pollution reduction, and eco-friendly employment opportunities.</a:t>
            </a:r>
          </a:p>
          <a:p>
            <a:pPr algn="l">
              <a:lnSpc>
                <a:spcPts val="5040"/>
              </a:lnSpc>
            </a:pPr>
            <a:endParaRPr lang="en-US" sz="36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Empower youth and local communities through awareness campaigns, data-driven insights, and participatory design.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546359" y="-546359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8391" y="436393"/>
            <a:ext cx="11763117" cy="147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Engineering Principles</a:t>
            </a:r>
          </a:p>
        </p:txBody>
      </p:sp>
      <p:sp>
        <p:nvSpPr>
          <p:cNvPr id="4" name="Freeform 4"/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0" y="2116183"/>
            <a:ext cx="18288000" cy="81119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Sustainability &amp; Lifecycle Thinking: Design solutions that minimize environmental impact across their lifespan.</a:t>
            </a:r>
          </a:p>
          <a:p>
            <a:pPr algn="l">
              <a:lnSpc>
                <a:spcPts val="5319"/>
              </a:lnSpc>
            </a:pPr>
            <a:endParaRPr lang="en-US" sz="36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Systems Engineering: Integrate interdisciplinary approaches to address water, marine, and economic challenges holistically.</a:t>
            </a:r>
          </a:p>
          <a:p>
            <a:pPr algn="l">
              <a:lnSpc>
                <a:spcPts val="5319"/>
              </a:lnSpc>
            </a:pPr>
            <a:endParaRPr lang="en-US" sz="36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Optimization &amp; Simulation: Use data modeling to evaluate resource efficiency, pollution control, and employment scalability.</a:t>
            </a:r>
          </a:p>
          <a:p>
            <a:pPr algn="l">
              <a:lnSpc>
                <a:spcPts val="5319"/>
              </a:lnSpc>
            </a:pPr>
            <a:endParaRPr lang="en-US" sz="36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Human-Centered Design: Prioritize accessibility, inclusivity, and community feedback in solution development.</a:t>
            </a:r>
          </a:p>
          <a:p>
            <a:pPr algn="l">
              <a:lnSpc>
                <a:spcPts val="5319"/>
              </a:lnSpc>
            </a:pPr>
            <a:endParaRPr lang="en-US" sz="3799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546359" y="-309756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8391" y="436393"/>
            <a:ext cx="11763117" cy="147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Problem Analysis</a:t>
            </a:r>
          </a:p>
        </p:txBody>
      </p:sp>
      <p:sp>
        <p:nvSpPr>
          <p:cNvPr id="4" name="Freeform 4"/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94F3181A-9946-07D1-FE3B-8A99E78DB57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0249768"/>
              </p:ext>
            </p:extLst>
          </p:nvPr>
        </p:nvGraphicFramePr>
        <p:xfrm>
          <a:off x="0" y="7012313"/>
          <a:ext cx="15282895" cy="32746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4" name="TextBox 6">
            <a:extLst>
              <a:ext uri="{FF2B5EF4-FFF2-40B4-BE49-F238E27FC236}">
                <a16:creationId xmlns:a16="http://schemas.microsoft.com/office/drawing/2014/main" id="{CD19B52C-53A8-619E-4895-E3DC2ACFA6A3}"/>
              </a:ext>
            </a:extLst>
          </p:cNvPr>
          <p:cNvSpPr txBox="1"/>
          <p:nvPr/>
        </p:nvSpPr>
        <p:spPr>
          <a:xfrm>
            <a:off x="248726" y="1914779"/>
            <a:ext cx="18135600" cy="5329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Fragmented Water Footprint Data</a:t>
            </a:r>
          </a:p>
          <a:p>
            <a:pPr>
              <a:lnSpc>
                <a:spcPts val="3847"/>
              </a:lnSpc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Global water usage metrics vary widely across countries, making it difficult to assess marine impact and align with SDG 14 without standardized preprocessing.</a:t>
            </a:r>
          </a:p>
          <a:p>
            <a:pPr>
              <a:lnSpc>
                <a:spcPts val="3847"/>
              </a:lnSpc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Lack of Transparency in Corporate Sustainability</a:t>
            </a:r>
          </a:p>
          <a:p>
            <a:pPr>
              <a:lnSpc>
                <a:spcPts val="3847"/>
              </a:lnSpc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Company-level water consumption and sustainability efforts are often underreported or inconsistent, posing challenges for meaningful evaluation under SDG 6.</a:t>
            </a:r>
          </a:p>
          <a:p>
            <a:pPr>
              <a:lnSpc>
                <a:spcPts val="3847"/>
              </a:lnSpc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Sales-Driven Decisions Over Sustainability</a:t>
            </a:r>
          </a:p>
          <a:p>
            <a:pPr>
              <a:lnSpc>
                <a:spcPts val="3847"/>
              </a:lnSpc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Business growth metrics like sales often overshadow environmental considerations, limiting progress towards SDG 8 unless integrated into predictive models.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E1649-934A-BB97-9337-F36AF3548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BF35B8-32B5-D339-8EC3-5F09D997FDEF}"/>
              </a:ext>
            </a:extLst>
          </p:cNvPr>
          <p:cNvSpPr/>
          <p:nvPr/>
        </p:nvSpPr>
        <p:spPr>
          <a:xfrm rot="5400000">
            <a:off x="546359" y="-309756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04047D4-0D1D-5150-A530-5ADEDB42BD12}"/>
              </a:ext>
            </a:extLst>
          </p:cNvPr>
          <p:cNvSpPr txBox="1"/>
          <p:nvPr/>
        </p:nvSpPr>
        <p:spPr>
          <a:xfrm>
            <a:off x="268391" y="436393"/>
            <a:ext cx="11763117" cy="1479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Problem Analysis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1E5049C-40B6-D2C2-4E61-43329E38268F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20E2865-AC82-DEFF-2DB6-D4B89C44131F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3EE62B25-A357-E7B8-B79B-6C8D338C706A}"/>
              </a:ext>
            </a:extLst>
          </p:cNvPr>
          <p:cNvSpPr txBox="1"/>
          <p:nvPr/>
        </p:nvSpPr>
        <p:spPr>
          <a:xfrm>
            <a:off x="136313" y="1923556"/>
            <a:ext cx="17873464" cy="5331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Uncertainty in Real-World Impact</a:t>
            </a:r>
          </a:p>
          <a:p>
            <a:pPr>
              <a:lnSpc>
                <a:spcPts val="3847"/>
              </a:lnSpc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External factors—market volatility, policy shifts, and randomness—affect outcomes unpredictably, requiring probabilistic tools like Monte Carlo simulations to model realistic scenarios.</a:t>
            </a:r>
          </a:p>
          <a:p>
            <a:pPr>
              <a:lnSpc>
                <a:spcPts val="3847"/>
              </a:lnSpc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Disconnected Data Streams</a:t>
            </a:r>
          </a:p>
          <a:p>
            <a:pPr>
              <a:lnSpc>
                <a:spcPts val="3847"/>
              </a:lnSpc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Global footprint, company metrics, and sales data are rarely analyzed together, missing the opportunity to create holistic sustainability models that influence all three SDGs.</a:t>
            </a:r>
          </a:p>
          <a:p>
            <a:pPr>
              <a:lnSpc>
                <a:spcPts val="3847"/>
              </a:lnSpc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457200" indent="-457200">
              <a:lnSpc>
                <a:spcPts val="3847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Need for Weighted Decision Frameworks</a:t>
            </a:r>
          </a:p>
          <a:p>
            <a:pPr>
              <a:lnSpc>
                <a:spcPts val="3847"/>
              </a:lnSpc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Without assigning meaningful weights to country WSI, company footprint, sales, and luck, sustainability modeling lacks actionable precision and fails to guide ethical growth.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A79E8-BF5F-16B3-78A5-BF743414AF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146" y="7086323"/>
            <a:ext cx="15253514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51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53BFA-307C-376B-767D-65B7371203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A997181-D59E-A885-5AB6-AA946116C52A}"/>
              </a:ext>
            </a:extLst>
          </p:cNvPr>
          <p:cNvSpPr/>
          <p:nvPr/>
        </p:nvSpPr>
        <p:spPr>
          <a:xfrm rot="5400000">
            <a:off x="546359" y="-309756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CE29AF91-BA33-A83E-D673-FB3FC2C13CCA}"/>
              </a:ext>
            </a:extLst>
          </p:cNvPr>
          <p:cNvSpPr txBox="1"/>
          <p:nvPr/>
        </p:nvSpPr>
        <p:spPr>
          <a:xfrm>
            <a:off x="501360" y="495300"/>
            <a:ext cx="12304609" cy="1283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Overall Communication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693FA80-8CCE-22A0-2489-E996F8E6811B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A883AA4-2B4B-4293-FF40-DFE0BA73DDE6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CED87CE-7FAF-9552-5F5E-2DFCD84A6F79}"/>
              </a:ext>
            </a:extLst>
          </p:cNvPr>
          <p:cNvGraphicFramePr/>
          <p:nvPr/>
        </p:nvGraphicFramePr>
        <p:xfrm>
          <a:off x="128940" y="7084825"/>
          <a:ext cx="15240000" cy="31984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10" name="TextBox 6">
            <a:extLst>
              <a:ext uri="{FF2B5EF4-FFF2-40B4-BE49-F238E27FC236}">
                <a16:creationId xmlns:a16="http://schemas.microsoft.com/office/drawing/2014/main" id="{0CFB16B0-89DA-7613-F869-893E231E68B2}"/>
              </a:ext>
            </a:extLst>
          </p:cNvPr>
          <p:cNvSpPr txBox="1"/>
          <p:nvPr/>
        </p:nvSpPr>
        <p:spPr>
          <a:xfrm>
            <a:off x="14383" y="1943101"/>
            <a:ext cx="17664017" cy="57164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algn="l">
              <a:lnSpc>
                <a:spcPts val="504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Unified Sustainability Model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Integrates water footprint, corporate responsibility, and economic growth in alignment with SDGs.</a:t>
            </a:r>
          </a:p>
          <a:p>
            <a:pPr marL="388620" lvl="1" algn="l">
              <a:lnSpc>
                <a:spcPts val="504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Data-Driven Insights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weighted inputs and simulations to enable informed, ethical, and actionable decision-making.</a:t>
            </a:r>
          </a:p>
          <a:p>
            <a:pPr marL="388620" lvl="1" algn="l">
              <a:lnSpc>
                <a:spcPts val="504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Real World Impact </a:t>
            </a:r>
          </a:p>
          <a:p>
            <a:pPr marL="777240" lvl="1" indent="-388620" algn="l">
              <a:lnSpc>
                <a:spcPts val="504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Translates raw data into strategies that guide stakeholders toward measurable sustainability outcomes.</a:t>
            </a:r>
          </a:p>
        </p:txBody>
      </p:sp>
    </p:spTree>
    <p:extLst>
      <p:ext uri="{BB962C8B-B14F-4D97-AF65-F5344CB8AC3E}">
        <p14:creationId xmlns:p14="http://schemas.microsoft.com/office/powerpoint/2010/main" val="1158790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DA7CC-290C-476F-A712-CACCB3649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4ED9930-DEF4-DED8-2AE9-17480BE9FE1F}"/>
              </a:ext>
            </a:extLst>
          </p:cNvPr>
          <p:cNvSpPr/>
          <p:nvPr/>
        </p:nvSpPr>
        <p:spPr>
          <a:xfrm rot="5400000">
            <a:off x="546359" y="-309756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F360090-81C4-F58F-47ED-DDB21639F4E5}"/>
              </a:ext>
            </a:extLst>
          </p:cNvPr>
          <p:cNvSpPr txBox="1"/>
          <p:nvPr/>
        </p:nvSpPr>
        <p:spPr>
          <a:xfrm>
            <a:off x="501360" y="495300"/>
            <a:ext cx="12304609" cy="1283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Implementation</a:t>
            </a:r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014206F-2ED7-9AE6-8E12-6AB80C81B882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B53B748-4E1A-7C8D-0C80-B0196C1E126B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0397EE1-988F-8C69-02FD-95791C88C09C}"/>
              </a:ext>
            </a:extLst>
          </p:cNvPr>
          <p:cNvSpPr txBox="1"/>
          <p:nvPr/>
        </p:nvSpPr>
        <p:spPr>
          <a:xfrm>
            <a:off x="-152399" y="1488532"/>
            <a:ext cx="18440399" cy="95636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Key Steps in System Implementation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Data Integration: </a:t>
            </a:r>
          </a:p>
          <a:p>
            <a:pPr marL="845820" lvl="2">
              <a:lnSpc>
                <a:spcPts val="5040"/>
              </a:lnSpc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Combined Global Water Footprint Dataset and Company Water Consumption Dataset for multi-level sustainability analysis.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Preprocessing: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Normalizing water footprint values.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Encoding country-level 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Water Sustainability Index (WSI).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Cleaning and scaling sales/market volume data.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 Principles Used: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Sustainability-Driven Modeling – environmentally weighted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financialanalysis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Systems Engineering – connecting geography, industry, and finance.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Probabilistic Simulation – representing market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uncertaintyrealistically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Outcome: Clean, integrated dataset ready for simulation and stock projection models.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  <p:extLst>
      <p:ext uri="{BB962C8B-B14F-4D97-AF65-F5344CB8AC3E}">
        <p14:creationId xmlns:p14="http://schemas.microsoft.com/office/powerpoint/2010/main" val="518987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7E418-0A72-F8AA-A6F5-0381ADE57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BE4E5C3-6FA2-8435-5161-FDEAF3CC3F79}"/>
              </a:ext>
            </a:extLst>
          </p:cNvPr>
          <p:cNvSpPr/>
          <p:nvPr/>
        </p:nvSpPr>
        <p:spPr>
          <a:xfrm rot="5400000">
            <a:off x="546359" y="-309756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295EEAD-FA27-B66E-D276-04B7348EBA66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AAFB27D-AFA5-ACC3-0248-18C61D139FCC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C3B6AB4-57EA-9C0F-E131-82B902008425}"/>
              </a:ext>
            </a:extLst>
          </p:cNvPr>
          <p:cNvSpPr txBox="1"/>
          <p:nvPr/>
        </p:nvSpPr>
        <p:spPr>
          <a:xfrm>
            <a:off x="-9832" y="1722649"/>
            <a:ext cx="17664017" cy="82812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>
              <a:lnSpc>
                <a:spcPts val="504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Monte Carlo Simulation Model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Simulates stock price evolution for 252 trading days.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Core formula (Geometric Brownian Motion):</a:t>
            </a:r>
          </a:p>
          <a:p>
            <a:pPr marL="388620" lvl="1" algn="ctr">
              <a:lnSpc>
                <a:spcPts val="5040"/>
              </a:lnSpc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	Pt+1 = Pt · e(</a:t>
            </a:r>
            <a:r>
              <a:rPr lang="el-GR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μ−0.5σ2)+σ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Z 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Drift </a:t>
            </a:r>
            <a:r>
              <a:rPr lang="el-GR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μ </a:t>
            </a: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influenced by: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Sustainability Score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Country WSI Impact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Company Water Footprint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Random component Z (luck factor)models market volatility.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Model Comparison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Baseline Model – uses only sales volume.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Sustainability-Enhanced Model – adds WSI + company footprint.</a:t>
            </a:r>
          </a:p>
          <a:p>
            <a:pPr marL="1303020" lvl="2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Monte Carlo Model – adds randomness, making results more realistic.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560452FA-38F4-3D44-F50F-C8088DDD7C73}"/>
              </a:ext>
            </a:extLst>
          </p:cNvPr>
          <p:cNvSpPr txBox="1"/>
          <p:nvPr/>
        </p:nvSpPr>
        <p:spPr>
          <a:xfrm>
            <a:off x="501360" y="495300"/>
            <a:ext cx="12304609" cy="1283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Implementation</a:t>
            </a:r>
          </a:p>
        </p:txBody>
      </p:sp>
    </p:spTree>
    <p:extLst>
      <p:ext uri="{BB962C8B-B14F-4D97-AF65-F5344CB8AC3E}">
        <p14:creationId xmlns:p14="http://schemas.microsoft.com/office/powerpoint/2010/main" val="797150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8F5BE-7B08-65A9-5E8D-F3086D172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B0C8B77-B7A1-D215-26C1-A355F23D5DFE}"/>
              </a:ext>
            </a:extLst>
          </p:cNvPr>
          <p:cNvSpPr/>
          <p:nvPr/>
        </p:nvSpPr>
        <p:spPr>
          <a:xfrm rot="5400000">
            <a:off x="546359" y="-309756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C991BC5-D45D-AB0F-93F6-E7DA06013CB3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3018505-E042-7B07-037F-76653E3AA73F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4F8333C-3565-9132-3D8F-1F7644F75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380233"/>
              </p:ext>
            </p:extLst>
          </p:nvPr>
        </p:nvGraphicFramePr>
        <p:xfrm>
          <a:off x="0" y="1271297"/>
          <a:ext cx="15762670" cy="9034138"/>
        </p:xfrm>
        <a:graphic>
          <a:graphicData uri="http://schemas.openxmlformats.org/drawingml/2006/table">
            <a:tbl>
              <a:tblPr firstRow="1" firstCol="1">
                <a:tableStyleId>{5C22544A-7EE6-4342-B048-85BDC9FD1C3A}</a:tableStyleId>
              </a:tblPr>
              <a:tblGrid>
                <a:gridCol w="2251810">
                  <a:extLst>
                    <a:ext uri="{9D8B030D-6E8A-4147-A177-3AD203B41FA5}">
                      <a16:colId xmlns:a16="http://schemas.microsoft.com/office/drawing/2014/main" val="2168643409"/>
                    </a:ext>
                  </a:extLst>
                </a:gridCol>
                <a:gridCol w="2251810">
                  <a:extLst>
                    <a:ext uri="{9D8B030D-6E8A-4147-A177-3AD203B41FA5}">
                      <a16:colId xmlns:a16="http://schemas.microsoft.com/office/drawing/2014/main" val="3208038958"/>
                    </a:ext>
                  </a:extLst>
                </a:gridCol>
                <a:gridCol w="2251810">
                  <a:extLst>
                    <a:ext uri="{9D8B030D-6E8A-4147-A177-3AD203B41FA5}">
                      <a16:colId xmlns:a16="http://schemas.microsoft.com/office/drawing/2014/main" val="585563247"/>
                    </a:ext>
                  </a:extLst>
                </a:gridCol>
                <a:gridCol w="2251810">
                  <a:extLst>
                    <a:ext uri="{9D8B030D-6E8A-4147-A177-3AD203B41FA5}">
                      <a16:colId xmlns:a16="http://schemas.microsoft.com/office/drawing/2014/main" val="2798745318"/>
                    </a:ext>
                  </a:extLst>
                </a:gridCol>
                <a:gridCol w="2251810">
                  <a:extLst>
                    <a:ext uri="{9D8B030D-6E8A-4147-A177-3AD203B41FA5}">
                      <a16:colId xmlns:a16="http://schemas.microsoft.com/office/drawing/2014/main" val="1052821755"/>
                    </a:ext>
                  </a:extLst>
                </a:gridCol>
                <a:gridCol w="2251810">
                  <a:extLst>
                    <a:ext uri="{9D8B030D-6E8A-4147-A177-3AD203B41FA5}">
                      <a16:colId xmlns:a16="http://schemas.microsoft.com/office/drawing/2014/main" val="4257606434"/>
                    </a:ext>
                  </a:extLst>
                </a:gridCol>
                <a:gridCol w="2251810">
                  <a:extLst>
                    <a:ext uri="{9D8B030D-6E8A-4147-A177-3AD203B41FA5}">
                      <a16:colId xmlns:a16="http://schemas.microsoft.com/office/drawing/2014/main" val="247888878"/>
                    </a:ext>
                  </a:extLst>
                </a:gridCol>
              </a:tblGrid>
              <a:tr h="8216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Feature / Criterion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Monte Carlo Simulation</a:t>
                      </a:r>
                      <a:endParaRPr lang="en-IN" sz="1400" dirty="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Markov Chain Simulation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ARIMA Time-Series Forecasting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LSTM / Deep Learning Models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Agent-Based Simulation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System Dynamics (SD)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1220963693"/>
                  </a:ext>
                </a:extLst>
              </a:tr>
              <a:tr h="707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Approach Type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Stochastic probabilistic simulation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Probabilistic state-transition model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Deterministic statistical model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Deep learning neural network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Individual agent interaction model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Feedback-loop, system-level modeling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1667296406"/>
                  </a:ext>
                </a:extLst>
              </a:tr>
              <a:tr h="707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Uses Randomness?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✔ Yes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✔ Yes (state transition)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✖ No (predictive trend)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✔ Yes (learns noisy patterns)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✔ Yes (random behavior possible)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✖ No (deterministic unless noise added)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128301232"/>
                  </a:ext>
                </a:extLst>
              </a:tr>
              <a:tr h="707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Data Requirement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Very low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Low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 (historical series needed)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Very high (large time-series datasets)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 (define rules for many agents)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Medium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1121355922"/>
                  </a:ext>
                </a:extLst>
              </a:tr>
              <a:tr h="707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Handles Uncertainty &amp; Volatility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⭐ Excellent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Moderate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Poor (only trends)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Moderate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Low (unless stochastic extensions used)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1763157313"/>
                  </a:ext>
                </a:extLst>
              </a:tr>
              <a:tr h="707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Captures Market Randomness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⭐ Best suited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Limited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✖ No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Moderate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 but unrealistic for stock prices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Not designed for randomness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3706137653"/>
                  </a:ext>
                </a:extLst>
              </a:tr>
              <a:tr h="707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Input Dependency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Few parameters (drift, volatility, factors)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Transition matrix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Historical stock time-series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Large labeled data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Rules &amp; agent behavior logic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System equations &amp; flows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3296333523"/>
                  </a:ext>
                </a:extLst>
              </a:tr>
              <a:tr h="44243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Interpretability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⭐ Very high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Low (black-box)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Moderate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259467299"/>
                  </a:ext>
                </a:extLst>
              </a:tr>
              <a:tr h="575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Computation Cost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Low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Low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Low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Very High (GPU recommended)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High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Moderate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2866964815"/>
                  </a:ext>
                </a:extLst>
              </a:tr>
              <a:tr h="840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Ideal Use Cases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Stock simulation, risk modeling, finance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Weather modeling, machine states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Sales forecasting, economic trends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Long-term stock price prediction (with history)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Crowd behavior, disease spread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Policy modeling, environmental flow dynamics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3189732477"/>
                  </a:ext>
                </a:extLst>
              </a:tr>
              <a:tr h="7545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Strengths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Simple, flexible, handles randomness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Models transitions well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Good for seasonal/linear patterns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Learns complex non-linear patterns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Realistic behavior modeling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Excellent for feedback-based systems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1099476749"/>
                  </a:ext>
                </a:extLst>
              </a:tr>
              <a:tr h="840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Weaknesses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 learning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Not suitable for continuous stock prices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Fails when sudden shocks occur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Needs huge datasets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Overly complex for stock simulation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Not focused on randomness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738293673"/>
                  </a:ext>
                </a:extLst>
              </a:tr>
              <a:tr h="5116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/>
                        <a:t>Suitability for Your Project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⭐ </a:t>
                      </a:r>
                      <a:r>
                        <a:rPr lang="en-IN" sz="1400" b="1"/>
                        <a:t>Excellent</a:t>
                      </a:r>
                      <a:endParaRPr lang="en-IN" sz="1400"/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Low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Very Low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Low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Very Low</a:t>
                      </a:r>
                    </a:p>
                  </a:txBody>
                  <a:tcPr marL="22744" marR="22744" marT="11372" marB="11372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Very Low</a:t>
                      </a:r>
                    </a:p>
                  </a:txBody>
                  <a:tcPr marL="22744" marR="22744" marT="11372" marB="11372" anchor="ctr"/>
                </a:tc>
                <a:extLst>
                  <a:ext uri="{0D108BD9-81ED-4DB2-BD59-A6C34878D82A}">
                    <a16:rowId xmlns:a16="http://schemas.microsoft.com/office/drawing/2014/main" val="3388523204"/>
                  </a:ext>
                </a:extLst>
              </a:tr>
            </a:tbl>
          </a:graphicData>
        </a:graphic>
      </p:graphicFrame>
      <p:sp>
        <p:nvSpPr>
          <p:cNvPr id="6" name="TextBox 3">
            <a:extLst>
              <a:ext uri="{FF2B5EF4-FFF2-40B4-BE49-F238E27FC236}">
                <a16:creationId xmlns:a16="http://schemas.microsoft.com/office/drawing/2014/main" id="{174B8EED-77AE-5E18-53F9-805CB1933C04}"/>
              </a:ext>
            </a:extLst>
          </p:cNvPr>
          <p:cNvSpPr txBox="1"/>
          <p:nvPr/>
        </p:nvSpPr>
        <p:spPr>
          <a:xfrm>
            <a:off x="-609600" y="-11811"/>
            <a:ext cx="15272040" cy="1283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Comparison</a:t>
            </a:r>
          </a:p>
        </p:txBody>
      </p:sp>
    </p:spTree>
    <p:extLst>
      <p:ext uri="{BB962C8B-B14F-4D97-AF65-F5344CB8AC3E}">
        <p14:creationId xmlns:p14="http://schemas.microsoft.com/office/powerpoint/2010/main" val="11659915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16E8E-870C-7532-4E1D-55B93B116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3DC2426-7CC7-8786-3353-91EF66D51AFB}"/>
              </a:ext>
            </a:extLst>
          </p:cNvPr>
          <p:cNvSpPr/>
          <p:nvPr/>
        </p:nvSpPr>
        <p:spPr>
          <a:xfrm rot="5400000">
            <a:off x="546359" y="-309756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02B7824-4E8D-9EF1-2CF1-0A0A6F1AB581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D311DA2-E638-086F-88F1-FFC3412BD3E0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25B78165-7343-E3A9-D7DB-E89BFA4A1A57}"/>
              </a:ext>
            </a:extLst>
          </p:cNvPr>
          <p:cNvSpPr txBox="1"/>
          <p:nvPr/>
        </p:nvSpPr>
        <p:spPr>
          <a:xfrm>
            <a:off x="-609600" y="-11811"/>
            <a:ext cx="15272040" cy="1283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Comparison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7B86BD20-1763-5D45-260A-84DDE958AA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413478"/>
              </p:ext>
            </p:extLst>
          </p:nvPr>
        </p:nvGraphicFramePr>
        <p:xfrm>
          <a:off x="1828800" y="1943100"/>
          <a:ext cx="10985772" cy="7772400"/>
        </p:xfrm>
        <a:graphic>
          <a:graphicData uri="http://schemas.openxmlformats.org/drawingml/2006/table">
            <a:tbl>
              <a:tblPr firstRow="1" firstCol="1">
                <a:tableStyleId>{073A0DAA-6AF3-43AB-8588-CEC1D06C72B9}</a:tableStyleId>
              </a:tblPr>
              <a:tblGrid>
                <a:gridCol w="5492886">
                  <a:extLst>
                    <a:ext uri="{9D8B030D-6E8A-4147-A177-3AD203B41FA5}">
                      <a16:colId xmlns:a16="http://schemas.microsoft.com/office/drawing/2014/main" val="2438672942"/>
                    </a:ext>
                  </a:extLst>
                </a:gridCol>
                <a:gridCol w="5492886">
                  <a:extLst>
                    <a:ext uri="{9D8B030D-6E8A-4147-A177-3AD203B41FA5}">
                      <a16:colId xmlns:a16="http://schemas.microsoft.com/office/drawing/2014/main" val="3406564152"/>
                    </a:ext>
                  </a:extLst>
                </a:gridCol>
              </a:tblGrid>
              <a:tr h="6344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Summary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9988942"/>
                  </a:ext>
                </a:extLst>
              </a:tr>
              <a:tr h="15862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Monte Carlo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Best for your project — models randomness, risk, volatility, and multi-factor influence.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800299"/>
                  </a:ext>
                </a:extLst>
              </a:tr>
              <a:tr h="1110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Markov Chain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Good for state transitions, not suitable for continuous stock price simulation.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9149307"/>
                  </a:ext>
                </a:extLst>
              </a:tr>
              <a:tr h="1110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ARIMA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Needs historical data; poor at modeling uncertainty.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0410556"/>
                  </a:ext>
                </a:extLst>
              </a:tr>
              <a:tr h="1110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LSTM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Powerful but requires huge datasets; black-box.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4864081"/>
                  </a:ext>
                </a:extLst>
              </a:tr>
              <a:tr h="1110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Agent-Based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Overkill; models behavior of many agents, not needed here.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3893683"/>
                  </a:ext>
                </a:extLst>
              </a:tr>
              <a:tr h="11103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System Dynamics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Feedback-loop modeling, not suited for stochastic financial simulation.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2388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5379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03CEF-25D9-AEFD-EC2F-80156C1F1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8F6F557-4922-4D7A-7136-3018B2A4118B}"/>
              </a:ext>
            </a:extLst>
          </p:cNvPr>
          <p:cNvSpPr/>
          <p:nvPr/>
        </p:nvSpPr>
        <p:spPr>
          <a:xfrm rot="5400000">
            <a:off x="546359" y="-309756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23C6CEE2-C196-BE32-8CC0-A30B740004B7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5363D70A-C747-D923-71B8-3AC7E77836B5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2427F0C3-2CB6-082D-7F21-391478D0E0E8}"/>
              </a:ext>
            </a:extLst>
          </p:cNvPr>
          <p:cNvSpPr txBox="1"/>
          <p:nvPr/>
        </p:nvSpPr>
        <p:spPr>
          <a:xfrm>
            <a:off x="-228600" y="741193"/>
            <a:ext cx="15272040" cy="1283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 err="1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Colab</a:t>
            </a: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: Implementation</a:t>
            </a:r>
          </a:p>
        </p:txBody>
      </p:sp>
      <p:sp>
        <p:nvSpPr>
          <p:cNvPr id="9" name="TextBox 8">
            <a:hlinkClick r:id="rId6" tooltip="Click here"/>
            <a:extLst>
              <a:ext uri="{FF2B5EF4-FFF2-40B4-BE49-F238E27FC236}">
                <a16:creationId xmlns:a16="http://schemas.microsoft.com/office/drawing/2014/main" id="{A614109D-5132-3B53-5EEF-EA25EEFD360E}"/>
              </a:ext>
            </a:extLst>
          </p:cNvPr>
          <p:cNvSpPr txBox="1"/>
          <p:nvPr/>
        </p:nvSpPr>
        <p:spPr>
          <a:xfrm>
            <a:off x="4076700" y="5260986"/>
            <a:ext cx="10134600" cy="83099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4800" dirty="0"/>
              <a:t>Link</a:t>
            </a:r>
            <a:endParaRPr lang="en-IN" sz="4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1130EA-859C-8FD2-61BF-F186BCA7D13F}"/>
              </a:ext>
            </a:extLst>
          </p:cNvPr>
          <p:cNvSpPr txBox="1"/>
          <p:nvPr/>
        </p:nvSpPr>
        <p:spPr>
          <a:xfrm>
            <a:off x="1147128" y="3687186"/>
            <a:ext cx="13646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400" dirty="0"/>
              <a:t>Full </a:t>
            </a:r>
            <a:r>
              <a:rPr lang="fr-FR" sz="5400" dirty="0" err="1"/>
              <a:t>Implementation</a:t>
            </a:r>
            <a:r>
              <a:rPr lang="fr-FR" sz="5400" dirty="0"/>
              <a:t> Code </a:t>
            </a:r>
            <a:r>
              <a:rPr lang="fr-FR" sz="5400" dirty="0" err="1"/>
              <a:t>Available</a:t>
            </a:r>
            <a:r>
              <a:rPr lang="fr-FR" sz="5400" dirty="0"/>
              <a:t> At: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4941791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F71B0-A76B-4762-D61F-A85C2F714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CD64481-FBE6-A77F-7FE6-B24D44924F37}"/>
              </a:ext>
            </a:extLst>
          </p:cNvPr>
          <p:cNvSpPr/>
          <p:nvPr/>
        </p:nvSpPr>
        <p:spPr>
          <a:xfrm rot="5400000">
            <a:off x="546359" y="-309756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6C59F24-D1F8-1AA0-8E55-6137CEC80223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A39C049-5E54-6C44-78DD-C3ACA60BB1B7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E2C93D52-C2B8-A009-B135-F5E02EDD0516}"/>
              </a:ext>
            </a:extLst>
          </p:cNvPr>
          <p:cNvSpPr txBox="1"/>
          <p:nvPr/>
        </p:nvSpPr>
        <p:spPr>
          <a:xfrm>
            <a:off x="10740963" y="1524174"/>
            <a:ext cx="7045677" cy="7626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Starbucks has highest sustainability score and stable stock projection.</a:t>
            </a:r>
          </a:p>
          <a:p>
            <a:pPr marL="388620" lvl="1">
              <a:lnSpc>
                <a:spcPts val="5040"/>
              </a:lnSpc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Pepsi shows volatility due to regional water stress.</a:t>
            </a:r>
          </a:p>
          <a:p>
            <a:pPr marL="388620" lvl="1">
              <a:lnSpc>
                <a:spcPts val="5040"/>
              </a:lnSpc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Countries like USA and Russia show high industrial footprint → </a:t>
            </a:r>
            <a:r>
              <a:rPr lang="en-US" sz="28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lowerWSI</a:t>
            </a: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marL="388620" lvl="1">
              <a:lnSpc>
                <a:spcPts val="5040"/>
              </a:lnSpc>
            </a:pPr>
            <a:endParaRPr lang="en-US" sz="28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Simulation demonstrates sustainability–finance correlation.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3FAFE62C-44D7-C498-51AD-47EF8D9D04CA}"/>
              </a:ext>
            </a:extLst>
          </p:cNvPr>
          <p:cNvSpPr txBox="1"/>
          <p:nvPr/>
        </p:nvSpPr>
        <p:spPr>
          <a:xfrm>
            <a:off x="501360" y="495300"/>
            <a:ext cx="12304609" cy="1283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Results and Analysis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B9DFD9-83DF-1428-36AC-27F403C43B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64" y="2254045"/>
            <a:ext cx="10872836" cy="681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7069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6FDE1-DC58-AAE2-D5F2-AF7B85BA6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D4F3DA7-EF30-059B-92E8-302E7750E4E6}"/>
              </a:ext>
            </a:extLst>
          </p:cNvPr>
          <p:cNvSpPr/>
          <p:nvPr/>
        </p:nvSpPr>
        <p:spPr>
          <a:xfrm rot="5400000">
            <a:off x="546359" y="-309756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40016B1-46EE-6756-3870-AD49D65EAFCA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D850D6A8-7CED-F884-8CDF-7D887515AE67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A01D0C85-8101-474D-715B-A0B279278AB2}"/>
              </a:ext>
            </a:extLst>
          </p:cNvPr>
          <p:cNvSpPr txBox="1"/>
          <p:nvPr/>
        </p:nvSpPr>
        <p:spPr>
          <a:xfrm>
            <a:off x="-9832" y="1722649"/>
            <a:ext cx="17664017" cy="76400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Building IPO apps based on the WSI stock Strategy helps for companies</a:t>
            </a:r>
          </a:p>
          <a:p>
            <a:pPr marL="388620" lvl="1">
              <a:lnSpc>
                <a:spcPts val="504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 real-time financial APIs.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Add ESG and climate risk datasets.</a:t>
            </a:r>
          </a:p>
          <a:p>
            <a:pPr marL="388620" lvl="1">
              <a:lnSpc>
                <a:spcPts val="504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 Reinforcement Learning for dynamic stock strategy.</a:t>
            </a:r>
          </a:p>
          <a:p>
            <a:pPr marL="388620" lvl="1">
              <a:lnSpc>
                <a:spcPts val="504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Build portfolio-wide sustainability analysis.</a:t>
            </a:r>
          </a:p>
          <a:p>
            <a:pPr marL="388620" lvl="1">
              <a:lnSpc>
                <a:spcPts val="504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Mobile app for stock sustainability prediction.</a:t>
            </a: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07DEF307-2BB4-D6C9-9458-CDE1CF8EA485}"/>
              </a:ext>
            </a:extLst>
          </p:cNvPr>
          <p:cNvSpPr txBox="1"/>
          <p:nvPr/>
        </p:nvSpPr>
        <p:spPr>
          <a:xfrm>
            <a:off x="501360" y="495300"/>
            <a:ext cx="12304609" cy="1283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val="2058156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ACF41-54DC-01EC-C942-6E526962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F836C4-C056-6451-067A-6B95BA3632BE}"/>
              </a:ext>
            </a:extLst>
          </p:cNvPr>
          <p:cNvSpPr/>
          <p:nvPr/>
        </p:nvSpPr>
        <p:spPr>
          <a:xfrm rot="5400000">
            <a:off x="546359" y="-309756"/>
            <a:ext cx="1245784" cy="2338502"/>
          </a:xfrm>
          <a:custGeom>
            <a:avLst/>
            <a:gdLst/>
            <a:ahLst/>
            <a:cxnLst/>
            <a:rect l="l" t="t" r="r" b="b"/>
            <a:pathLst>
              <a:path w="1245784" h="2338502">
                <a:moveTo>
                  <a:pt x="0" y="0"/>
                </a:moveTo>
                <a:lnTo>
                  <a:pt x="1245784" y="0"/>
                </a:lnTo>
                <a:lnTo>
                  <a:pt x="1245784" y="2338502"/>
                </a:lnTo>
                <a:lnTo>
                  <a:pt x="0" y="23385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D7F08E4F-37B7-69D3-4F95-0E99582005B7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F974C67-F423-EDEB-2AE3-9D0B65F85BE8}"/>
              </a:ext>
            </a:extLst>
          </p:cNvPr>
          <p:cNvSpPr/>
          <p:nvPr/>
        </p:nvSpPr>
        <p:spPr>
          <a:xfrm>
            <a:off x="15551286" y="8572365"/>
            <a:ext cx="2782369" cy="1714635"/>
          </a:xfrm>
          <a:custGeom>
            <a:avLst/>
            <a:gdLst/>
            <a:ahLst/>
            <a:cxnLst/>
            <a:rect l="l" t="t" r="r" b="b"/>
            <a:pathLst>
              <a:path w="2782369" h="1714635">
                <a:moveTo>
                  <a:pt x="0" y="0"/>
                </a:moveTo>
                <a:lnTo>
                  <a:pt x="2782369" y="0"/>
                </a:lnTo>
                <a:lnTo>
                  <a:pt x="2782369" y="1714635"/>
                </a:lnTo>
                <a:lnTo>
                  <a:pt x="0" y="1714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931CE39D-5CC6-D97A-A091-A8FB4FC3E477}"/>
              </a:ext>
            </a:extLst>
          </p:cNvPr>
          <p:cNvSpPr txBox="1"/>
          <p:nvPr/>
        </p:nvSpPr>
        <p:spPr>
          <a:xfrm>
            <a:off x="0" y="2476500"/>
            <a:ext cx="17664017" cy="57164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Water Footprint Network – Dataset (</a:t>
            </a:r>
            <a:r>
              <a:rPr lang="en-US" sz="3200" i="1" dirty="0"/>
              <a:t>National Water Footprint Accounts: The Green, Blue and Grey Water Footprint of Production and Consumption —Hoekstra, A.Y. &amp; Mekonnen, M.M. (2011, expanded 2012 PNAS)</a:t>
            </a: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388620" lvl="1">
              <a:lnSpc>
                <a:spcPts val="504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FAO </a:t>
            </a:r>
            <a:r>
              <a:rPr lang="en-US" sz="32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Aquastat</a:t>
            </a: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388620" lvl="1">
              <a:lnSpc>
                <a:spcPts val="504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Monte Carlo Simulation Theory (GBM)</a:t>
            </a:r>
          </a:p>
          <a:p>
            <a:pPr marL="388620" lvl="1">
              <a:lnSpc>
                <a:spcPts val="5040"/>
              </a:lnSpc>
            </a:pPr>
            <a:endParaRPr lang="en-US" sz="3200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845820" lvl="1" indent="-457200">
              <a:lnSpc>
                <a:spcPts val="504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Libraries: Pandas, NumPy, Matplotlib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58EF13FC-9FD4-9DFB-DB24-A1F609FFDF6B}"/>
              </a:ext>
            </a:extLst>
          </p:cNvPr>
          <p:cNvSpPr txBox="1"/>
          <p:nvPr/>
        </p:nvSpPr>
        <p:spPr>
          <a:xfrm>
            <a:off x="501360" y="495300"/>
            <a:ext cx="12304609" cy="1283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846"/>
              </a:lnSpc>
            </a:pPr>
            <a:r>
              <a:rPr lang="en-US" sz="7747" b="1" dirty="0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451017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B8E76B0F-D127-098F-EDF1-71EE79C4BA5E}"/>
              </a:ext>
            </a:extLst>
          </p:cNvPr>
          <p:cNvGrpSpPr/>
          <p:nvPr/>
        </p:nvGrpSpPr>
        <p:grpSpPr>
          <a:xfrm>
            <a:off x="2936059" y="2525383"/>
            <a:ext cx="12415882" cy="5539357"/>
            <a:chOff x="0" y="0"/>
            <a:chExt cx="3270027" cy="1458925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C9ACDD4E-2DE1-2C7F-B0C6-2CCA9672596A}"/>
                </a:ext>
              </a:extLst>
            </p:cNvPr>
            <p:cNvSpPr/>
            <p:nvPr/>
          </p:nvSpPr>
          <p:spPr>
            <a:xfrm>
              <a:off x="0" y="0"/>
              <a:ext cx="3270027" cy="1458925"/>
            </a:xfrm>
            <a:custGeom>
              <a:avLst/>
              <a:gdLst/>
              <a:ahLst/>
              <a:cxnLst/>
              <a:rect l="l" t="t" r="r" b="b"/>
              <a:pathLst>
                <a:path w="3270027" h="1458925">
                  <a:moveTo>
                    <a:pt x="31801" y="0"/>
                  </a:moveTo>
                  <a:lnTo>
                    <a:pt x="3238226" y="0"/>
                  </a:lnTo>
                  <a:cubicBezTo>
                    <a:pt x="3246660" y="0"/>
                    <a:pt x="3254749" y="3350"/>
                    <a:pt x="3260713" y="9314"/>
                  </a:cubicBezTo>
                  <a:cubicBezTo>
                    <a:pt x="3266676" y="15278"/>
                    <a:pt x="3270027" y="23367"/>
                    <a:pt x="3270027" y="31801"/>
                  </a:cubicBezTo>
                  <a:lnTo>
                    <a:pt x="3270027" y="1427124"/>
                  </a:lnTo>
                  <a:cubicBezTo>
                    <a:pt x="3270027" y="1444688"/>
                    <a:pt x="3255789" y="1458925"/>
                    <a:pt x="3238226" y="1458925"/>
                  </a:cubicBezTo>
                  <a:lnTo>
                    <a:pt x="31801" y="1458925"/>
                  </a:lnTo>
                  <a:cubicBezTo>
                    <a:pt x="14238" y="1458925"/>
                    <a:pt x="0" y="1444688"/>
                    <a:pt x="0" y="1427124"/>
                  </a:cubicBezTo>
                  <a:lnTo>
                    <a:pt x="0" y="31801"/>
                  </a:lnTo>
                  <a:cubicBezTo>
                    <a:pt x="0" y="14238"/>
                    <a:pt x="14238" y="0"/>
                    <a:pt x="31801" y="0"/>
                  </a:cubicBezTo>
                  <a:close/>
                </a:path>
              </a:pathLst>
            </a:custGeom>
            <a:solidFill>
              <a:srgbClr val="FFFFFF"/>
            </a:solidFill>
            <a:ln w="66675" cap="rnd">
              <a:solidFill>
                <a:srgbClr val="2E6FB7"/>
              </a:solidFill>
              <a:prstDash val="solid"/>
              <a:round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E1CF3F9-6CD3-7328-DA28-62DBB2535F56}"/>
                </a:ext>
              </a:extLst>
            </p:cNvPr>
            <p:cNvSpPr txBox="1"/>
            <p:nvPr/>
          </p:nvSpPr>
          <p:spPr>
            <a:xfrm>
              <a:off x="0" y="-38100"/>
              <a:ext cx="3270027" cy="1497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50C9EB15-544A-EE95-5536-2774ACF0C7B3}"/>
              </a:ext>
            </a:extLst>
          </p:cNvPr>
          <p:cNvSpPr txBox="1"/>
          <p:nvPr/>
        </p:nvSpPr>
        <p:spPr>
          <a:xfrm>
            <a:off x="3316574" y="3873330"/>
            <a:ext cx="11654852" cy="2369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458"/>
              </a:lnSpc>
            </a:pPr>
            <a:r>
              <a:rPr lang="en-US" sz="12470" b="1">
                <a:solidFill>
                  <a:srgbClr val="004AAD"/>
                </a:solidFill>
                <a:latin typeface="Gill Sans Display Ultra-Bold"/>
                <a:ea typeface="Gill Sans Display Ultra-Bold"/>
                <a:cs typeface="Gill Sans Display Ultra-Bold"/>
                <a:sym typeface="Gill Sans Display Ultra-Bold"/>
              </a:rPr>
              <a:t>THANK 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E03405-16E0-3651-882E-517DA94870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58433"/>
            <a:ext cx="4267200" cy="22669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F40E830-AA74-D2D1-3B33-22CFBFB88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39801" y="7493690"/>
            <a:ext cx="4506906" cy="2787165"/>
          </a:xfrm>
          <a:prstGeom prst="rect">
            <a:avLst/>
          </a:prstGeom>
        </p:spPr>
      </p:pic>
      <p:sp>
        <p:nvSpPr>
          <p:cNvPr id="10" name="Freeform 4">
            <a:extLst>
              <a:ext uri="{FF2B5EF4-FFF2-40B4-BE49-F238E27FC236}">
                <a16:creationId xmlns:a16="http://schemas.microsoft.com/office/drawing/2014/main" id="{0AA6AA75-6166-5556-CBD5-1C6ECC35A567}"/>
              </a:ext>
            </a:extLst>
          </p:cNvPr>
          <p:cNvSpPr/>
          <p:nvPr/>
        </p:nvSpPr>
        <p:spPr>
          <a:xfrm>
            <a:off x="12814572" y="0"/>
            <a:ext cx="5473428" cy="1482387"/>
          </a:xfrm>
          <a:custGeom>
            <a:avLst/>
            <a:gdLst/>
            <a:ahLst/>
            <a:cxnLst/>
            <a:rect l="l" t="t" r="r" b="b"/>
            <a:pathLst>
              <a:path w="5473428" h="1482387">
                <a:moveTo>
                  <a:pt x="0" y="0"/>
                </a:moveTo>
                <a:lnTo>
                  <a:pt x="5473428" y="0"/>
                </a:lnTo>
                <a:lnTo>
                  <a:pt x="5473428" y="1482387"/>
                </a:lnTo>
                <a:lnTo>
                  <a:pt x="0" y="14823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78897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2005</Words>
  <Application>Microsoft Office PowerPoint</Application>
  <PresentationFormat>Custom</PresentationFormat>
  <Paragraphs>298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Archivo Black</vt:lpstr>
      <vt:lpstr>Canva Sans Bold</vt:lpstr>
      <vt:lpstr>Calibri</vt:lpstr>
      <vt:lpstr>Gill Sans Display Ultra-Bold</vt:lpstr>
      <vt:lpstr>Lato</vt:lpstr>
      <vt:lpstr>Arial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Sustainable living refers to a lifestyle that minimizes the use of natural resources and personal resources.</dc:title>
  <cp:lastModifiedBy>SUBRAHMANYA H</cp:lastModifiedBy>
  <cp:revision>12</cp:revision>
  <dcterms:created xsi:type="dcterms:W3CDTF">2006-08-16T00:00:00Z</dcterms:created>
  <dcterms:modified xsi:type="dcterms:W3CDTF">2025-12-09T19:13:47Z</dcterms:modified>
  <dc:identifier>DAGwiCBhIPM</dc:identifier>
</cp:coreProperties>
</file>